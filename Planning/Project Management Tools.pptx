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9" r:id="rId2"/>
    <p:sldId id="273" r:id="rId3"/>
    <p:sldId id="274" r:id="rId4"/>
    <p:sldId id="292" r:id="rId5"/>
    <p:sldId id="293" r:id="rId6"/>
    <p:sldId id="294" r:id="rId7"/>
    <p:sldId id="295" r:id="rId8"/>
    <p:sldId id="296" r:id="rId9"/>
    <p:sldId id="277" r:id="rId10"/>
    <p:sldId id="278" r:id="rId11"/>
    <p:sldId id="279" r:id="rId12"/>
    <p:sldId id="280" r:id="rId13"/>
    <p:sldId id="281" r:id="rId14"/>
    <p:sldId id="285" r:id="rId15"/>
    <p:sldId id="282" r:id="rId16"/>
    <p:sldId id="286" r:id="rId17"/>
    <p:sldId id="287" r:id="rId18"/>
    <p:sldId id="260" r:id="rId19"/>
    <p:sldId id="261" r:id="rId20"/>
    <p:sldId id="284" r:id="rId21"/>
    <p:sldId id="265" r:id="rId22"/>
    <p:sldId id="264" r:id="rId23"/>
    <p:sldId id="267" r:id="rId24"/>
    <p:sldId id="268" r:id="rId25"/>
    <p:sldId id="297" r:id="rId26"/>
    <p:sldId id="298" r:id="rId27"/>
    <p:sldId id="269" r:id="rId28"/>
    <p:sldId id="271" r:id="rId29"/>
    <p:sldId id="288" r:id="rId30"/>
    <p:sldId id="289" r:id="rId31"/>
    <p:sldId id="290" r:id="rId32"/>
    <p:sldId id="291" r:id="rId33"/>
    <p:sldId id="29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82"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A23E1-AA4C-432F-B82C-F913C76CFED9}" type="datetimeFigureOut">
              <a:rPr lang="en-NZ" smtClean="0"/>
              <a:t>12/10/2020</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2885B2-9B8D-4BD8-9E03-7FDD109818C1}" type="slidenum">
              <a:rPr lang="en-NZ" smtClean="0"/>
              <a:t>‹#›</a:t>
            </a:fld>
            <a:endParaRPr lang="en-NZ"/>
          </a:p>
        </p:txBody>
      </p:sp>
    </p:spTree>
    <p:extLst>
      <p:ext uri="{BB962C8B-B14F-4D97-AF65-F5344CB8AC3E}">
        <p14:creationId xmlns:p14="http://schemas.microsoft.com/office/powerpoint/2010/main" val="3673193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7B2885B2-9B8D-4BD8-9E03-7FDD109818C1}" type="slidenum">
              <a:rPr lang="en-NZ" smtClean="0"/>
              <a:t>33</a:t>
            </a:fld>
            <a:endParaRPr lang="en-NZ"/>
          </a:p>
        </p:txBody>
      </p:sp>
    </p:spTree>
    <p:extLst>
      <p:ext uri="{BB962C8B-B14F-4D97-AF65-F5344CB8AC3E}">
        <p14:creationId xmlns:p14="http://schemas.microsoft.com/office/powerpoint/2010/main" val="2630888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984D2-BD76-4A9B-8183-0F0B9D5914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2FA08C-D381-48A5-83CC-7E4CAFF1D7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4CCC12-A48C-404A-93DF-50F29DF0D636}"/>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5" name="Footer Placeholder 4">
            <a:extLst>
              <a:ext uri="{FF2B5EF4-FFF2-40B4-BE49-F238E27FC236}">
                <a16:creationId xmlns:a16="http://schemas.microsoft.com/office/drawing/2014/main" id="{7275C3BF-D1E6-48D7-A669-3F980560E3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84326-9ACF-4F52-A586-1771E653148E}"/>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1761817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D0257-337A-47AF-8D82-7FF818C8C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AC4FA5-BBCB-452D-8417-6B5591A081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C9A94-0946-4230-87A8-6E4278C4A8C7}"/>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5" name="Footer Placeholder 4">
            <a:extLst>
              <a:ext uri="{FF2B5EF4-FFF2-40B4-BE49-F238E27FC236}">
                <a16:creationId xmlns:a16="http://schemas.microsoft.com/office/drawing/2014/main" id="{C95316BB-3DB6-413A-A584-92C5446C2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E18236-F5DC-4C2C-A0ED-201FB8348725}"/>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2841693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37C1D-157C-4C1A-8842-34E9E3A421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FC087C-FFAA-4D7B-8AE9-2009ED944F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A0E475-2F1B-4A13-BA45-E6203C7C597B}"/>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5" name="Footer Placeholder 4">
            <a:extLst>
              <a:ext uri="{FF2B5EF4-FFF2-40B4-BE49-F238E27FC236}">
                <a16:creationId xmlns:a16="http://schemas.microsoft.com/office/drawing/2014/main" id="{90E6E90A-8949-4325-B08B-2B30430C4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3868DA-4CD9-43A0-B5C5-F942E9185A73}"/>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2585194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C67B-9E27-419D-8EE7-92CF53FA2B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D6CE6D-7755-45B5-B881-A12904D250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DCA8AF-67FF-4DC8-97A6-811E7828C6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F23D15-A9ED-4B3C-A569-83BFF6E56E81}"/>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6" name="Footer Placeholder 5">
            <a:extLst>
              <a:ext uri="{FF2B5EF4-FFF2-40B4-BE49-F238E27FC236}">
                <a16:creationId xmlns:a16="http://schemas.microsoft.com/office/drawing/2014/main" id="{ADF67A9E-9530-48AD-A94A-76A06A667E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188578-2C3C-4B48-8944-459F92CAD314}"/>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1613560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9435-D20A-439C-95B9-6761007B37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718A3F-70D9-48BF-B87C-E64709FEBD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ED8B93-8EAB-472E-B147-BA78919F92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7C7C7D-A7A8-4BFD-88F9-F3504333FC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C50AF-8150-4725-AD4A-1BA104365C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8B515C-1399-4887-A1C8-88DFFF7B0FBF}"/>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8" name="Footer Placeholder 7">
            <a:extLst>
              <a:ext uri="{FF2B5EF4-FFF2-40B4-BE49-F238E27FC236}">
                <a16:creationId xmlns:a16="http://schemas.microsoft.com/office/drawing/2014/main" id="{9275CBB1-8943-436A-8C21-F47138F210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14523E-C7AE-453A-B614-0AB61857D1B3}"/>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1843952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E00B3-8370-43BA-80EB-13B052DFE5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CBDF51-DA9A-40E5-B808-29FA0C7EDAD3}"/>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4" name="Footer Placeholder 3">
            <a:extLst>
              <a:ext uri="{FF2B5EF4-FFF2-40B4-BE49-F238E27FC236}">
                <a16:creationId xmlns:a16="http://schemas.microsoft.com/office/drawing/2014/main" id="{CE1C0668-A0E5-4183-85B0-7892F39744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28C9BC-7A34-47FC-9B16-3F62BE0659B1}"/>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614210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CE8E4C-26ED-4554-9895-BFB84632F855}"/>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3" name="Footer Placeholder 2">
            <a:extLst>
              <a:ext uri="{FF2B5EF4-FFF2-40B4-BE49-F238E27FC236}">
                <a16:creationId xmlns:a16="http://schemas.microsoft.com/office/drawing/2014/main" id="{5ABA7023-81F5-4224-9844-98557173D2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1D11A2-A6FC-4B8B-9730-963705303F02}"/>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1997207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B65AA-67A6-47E0-BE41-070A9F7A78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6609F7-CE0B-4368-BC23-10ABD4683E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B2B1B8-5DB7-4DC9-BC49-88C0026D6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A14539-8980-484B-871B-1860ACF75B69}"/>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6" name="Footer Placeholder 5">
            <a:extLst>
              <a:ext uri="{FF2B5EF4-FFF2-40B4-BE49-F238E27FC236}">
                <a16:creationId xmlns:a16="http://schemas.microsoft.com/office/drawing/2014/main" id="{1A58F707-7544-4C56-BA1A-80FD6B89CE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839485-2FF9-4B94-A759-7E967CD99443}"/>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3542442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CA5C7-DD2A-481F-A713-06C5E59260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D5EAF0-04E0-4AB9-9AC5-C7BB30996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B7DF11-8B76-4251-9CD3-D340A3017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4C636-A61E-4BB3-9633-0AA0CBA49025}"/>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6" name="Footer Placeholder 5">
            <a:extLst>
              <a:ext uri="{FF2B5EF4-FFF2-40B4-BE49-F238E27FC236}">
                <a16:creationId xmlns:a16="http://schemas.microsoft.com/office/drawing/2014/main" id="{E3E466B8-AB93-4569-9CBF-A0A5433296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3CCF54-160E-4898-B84B-C4A07A20CB89}"/>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899151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DCC1F-F0C7-4D03-AF02-38D8B5621F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A47045-0347-49D1-9A39-86DB3D8ED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EEF905-85DF-47DF-B56B-9915658E6418}"/>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5" name="Footer Placeholder 4">
            <a:extLst>
              <a:ext uri="{FF2B5EF4-FFF2-40B4-BE49-F238E27FC236}">
                <a16:creationId xmlns:a16="http://schemas.microsoft.com/office/drawing/2014/main" id="{2E343B15-9D00-481A-B369-39030BC1F8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27FA9-A167-4027-A1C8-B6694A908A76}"/>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511748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3B7541-A6A4-4F16-9189-B7FC9E7B82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1A521D-1503-4F62-81C6-87933242C2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48B86-3D3B-4070-93DD-ECED3831C213}"/>
              </a:ext>
            </a:extLst>
          </p:cNvPr>
          <p:cNvSpPr>
            <a:spLocks noGrp="1"/>
          </p:cNvSpPr>
          <p:nvPr>
            <p:ph type="dt" sz="half" idx="10"/>
          </p:nvPr>
        </p:nvSpPr>
        <p:spPr/>
        <p:txBody>
          <a:bodyPr/>
          <a:lstStyle/>
          <a:p>
            <a:fld id="{B8FCF55A-3BBA-4C05-BA4E-A146856BD345}" type="datetimeFigureOut">
              <a:rPr lang="en-US" smtClean="0"/>
              <a:t>10/12/2020</a:t>
            </a:fld>
            <a:endParaRPr lang="en-US"/>
          </a:p>
        </p:txBody>
      </p:sp>
      <p:sp>
        <p:nvSpPr>
          <p:cNvPr id="5" name="Footer Placeholder 4">
            <a:extLst>
              <a:ext uri="{FF2B5EF4-FFF2-40B4-BE49-F238E27FC236}">
                <a16:creationId xmlns:a16="http://schemas.microsoft.com/office/drawing/2014/main" id="{F6CABE07-52B2-4DA0-9DF9-25CE50B0B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1C350-E92A-44FB-99FE-3858D743E64C}"/>
              </a:ext>
            </a:extLst>
          </p:cNvPr>
          <p:cNvSpPr>
            <a:spLocks noGrp="1"/>
          </p:cNvSpPr>
          <p:nvPr>
            <p:ph type="sldNum" sz="quarter" idx="12"/>
          </p:nvPr>
        </p:nvSpPr>
        <p:spPr/>
        <p:txBody>
          <a:bodyPr/>
          <a:lstStyle/>
          <a:p>
            <a:fld id="{8A089784-2652-4BF0-9F32-75883B111CDD}" type="slidenum">
              <a:rPr lang="en-US" smtClean="0"/>
              <a:t>‹#›</a:t>
            </a:fld>
            <a:endParaRPr lang="en-US"/>
          </a:p>
        </p:txBody>
      </p:sp>
    </p:spTree>
    <p:extLst>
      <p:ext uri="{BB962C8B-B14F-4D97-AF65-F5344CB8AC3E}">
        <p14:creationId xmlns:p14="http://schemas.microsoft.com/office/powerpoint/2010/main" val="3842080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205764-69CE-41FF-968C-92034EFB1E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0AEA58-CCE4-4F69-B730-41B1368A58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BCCE4E-81F0-4DB8-8EB6-4D4A5D5AA9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FCF55A-3BBA-4C05-BA4E-A146856BD345}" type="datetimeFigureOut">
              <a:rPr lang="en-US" smtClean="0"/>
              <a:t>10/12/2020</a:t>
            </a:fld>
            <a:endParaRPr lang="en-US"/>
          </a:p>
        </p:txBody>
      </p:sp>
      <p:sp>
        <p:nvSpPr>
          <p:cNvPr id="5" name="Footer Placeholder 4">
            <a:extLst>
              <a:ext uri="{FF2B5EF4-FFF2-40B4-BE49-F238E27FC236}">
                <a16:creationId xmlns:a16="http://schemas.microsoft.com/office/drawing/2014/main" id="{F4279E5E-A751-40F1-AB9E-18AE9031CE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3C902-40AC-4A64-B99F-6DB4FA31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089784-2652-4BF0-9F32-75883B111CDD}" type="slidenum">
              <a:rPr lang="en-US" smtClean="0"/>
              <a:t>‹#›</a:t>
            </a:fld>
            <a:endParaRPr lang="en-US"/>
          </a:p>
        </p:txBody>
      </p:sp>
    </p:spTree>
    <p:extLst>
      <p:ext uri="{BB962C8B-B14F-4D97-AF65-F5344CB8AC3E}">
        <p14:creationId xmlns:p14="http://schemas.microsoft.com/office/powerpoint/2010/main" val="1128339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3C47C2-33A2-44B2-BEAB-FEB679075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3324"/>
            <a:ext cx="12192000" cy="686132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reeform 3">
            <a:extLst>
              <a:ext uri="{FF2B5EF4-FFF2-40B4-BE49-F238E27FC236}">
                <a16:creationId xmlns:a16="http://schemas.microsoft.com/office/drawing/2014/main" id="{AD182BA8-54AD-4D9F-8264-B0FA8BB47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246925" y="-479"/>
            <a:ext cx="9468701" cy="6858478"/>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16">
            <a:extLst>
              <a:ext uri="{FF2B5EF4-FFF2-40B4-BE49-F238E27FC236}">
                <a16:creationId xmlns:a16="http://schemas.microsoft.com/office/drawing/2014/main" id="{4ED83379-0499-45E1-AB78-6AA230F96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479"/>
            <a:ext cx="9324977" cy="6858479"/>
          </a:xfrm>
          <a:custGeom>
            <a:avLst/>
            <a:gdLst>
              <a:gd name="connsiteX0" fmla="*/ 1246925 w 9324977"/>
              <a:gd name="connsiteY0" fmla="*/ 0 h 6858479"/>
              <a:gd name="connsiteX1" fmla="*/ 5076797 w 9324977"/>
              <a:gd name="connsiteY1" fmla="*/ 0 h 6858479"/>
              <a:gd name="connsiteX2" fmla="*/ 6143025 w 9324977"/>
              <a:gd name="connsiteY2" fmla="*/ 0 h 6858479"/>
              <a:gd name="connsiteX3" fmla="*/ 6148602 w 9324977"/>
              <a:gd name="connsiteY3" fmla="*/ 0 h 6858479"/>
              <a:gd name="connsiteX4" fmla="*/ 9324977 w 9324977"/>
              <a:gd name="connsiteY4" fmla="*/ 6858478 h 6858479"/>
              <a:gd name="connsiteX5" fmla="*/ 3359025 w 9324977"/>
              <a:gd name="connsiteY5" fmla="*/ 6858478 h 6858479"/>
              <a:gd name="connsiteX6" fmla="*/ 3359025 w 9324977"/>
              <a:gd name="connsiteY6" fmla="*/ 6858479 h 6858479"/>
              <a:gd name="connsiteX7" fmla="*/ 0 w 9324977"/>
              <a:gd name="connsiteY7" fmla="*/ 6858479 h 6858479"/>
              <a:gd name="connsiteX8" fmla="*/ 0 w 9324977"/>
              <a:gd name="connsiteY8" fmla="*/ 479 h 6858479"/>
              <a:gd name="connsiteX9" fmla="*/ 1246925 w 9324977"/>
              <a:gd name="connsiteY9" fmla="*/ 479 h 68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24977" h="6858479">
                <a:moveTo>
                  <a:pt x="1246925" y="0"/>
                </a:moveTo>
                <a:lnTo>
                  <a:pt x="5076797" y="0"/>
                </a:lnTo>
                <a:lnTo>
                  <a:pt x="6143025" y="0"/>
                </a:lnTo>
                <a:lnTo>
                  <a:pt x="6148602" y="0"/>
                </a:lnTo>
                <a:lnTo>
                  <a:pt x="9324977" y="6858478"/>
                </a:lnTo>
                <a:lnTo>
                  <a:pt x="3359025" y="6858478"/>
                </a:lnTo>
                <a:lnTo>
                  <a:pt x="3359025" y="6858479"/>
                </a:lnTo>
                <a:lnTo>
                  <a:pt x="0" y="6858479"/>
                </a:lnTo>
                <a:lnTo>
                  <a:pt x="0" y="479"/>
                </a:lnTo>
                <a:lnTo>
                  <a:pt x="1246925" y="479"/>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CF511B-0FF6-4878-82C7-FE99F2CE7812}"/>
              </a:ext>
            </a:extLst>
          </p:cNvPr>
          <p:cNvSpPr>
            <a:spLocks noGrp="1"/>
          </p:cNvSpPr>
          <p:nvPr>
            <p:ph type="ctrTitle"/>
          </p:nvPr>
        </p:nvSpPr>
        <p:spPr>
          <a:xfrm>
            <a:off x="804672" y="962246"/>
            <a:ext cx="6437700" cy="2611967"/>
          </a:xfrm>
        </p:spPr>
        <p:txBody>
          <a:bodyPr anchor="b">
            <a:normAutofit/>
          </a:bodyPr>
          <a:lstStyle/>
          <a:p>
            <a:pPr algn="l"/>
            <a:r>
              <a:rPr lang="en-US" sz="5400" dirty="0"/>
              <a:t>Develop a Proposal</a:t>
            </a:r>
          </a:p>
        </p:txBody>
      </p:sp>
    </p:spTree>
    <p:extLst>
      <p:ext uri="{BB962C8B-B14F-4D97-AF65-F5344CB8AC3E}">
        <p14:creationId xmlns:p14="http://schemas.microsoft.com/office/powerpoint/2010/main" val="898027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3538B-8126-4A8F-9BD0-E088D6326676}"/>
              </a:ext>
            </a:extLst>
          </p:cNvPr>
          <p:cNvSpPr>
            <a:spLocks noGrp="1"/>
          </p:cNvSpPr>
          <p:nvPr>
            <p:ph type="title"/>
          </p:nvPr>
        </p:nvSpPr>
        <p:spPr/>
        <p:txBody>
          <a:bodyPr/>
          <a:lstStyle/>
          <a:p>
            <a:r>
              <a:rPr lang="en-US" dirty="0"/>
              <a:t>Proposals</a:t>
            </a:r>
          </a:p>
        </p:txBody>
      </p:sp>
      <p:sp>
        <p:nvSpPr>
          <p:cNvPr id="3" name="Content Placeholder 2">
            <a:extLst>
              <a:ext uri="{FF2B5EF4-FFF2-40B4-BE49-F238E27FC236}">
                <a16:creationId xmlns:a16="http://schemas.microsoft.com/office/drawing/2014/main" id="{9969075D-5D6A-4FE0-8B11-314927DAC227}"/>
              </a:ext>
            </a:extLst>
          </p:cNvPr>
          <p:cNvSpPr>
            <a:spLocks noGrp="1"/>
          </p:cNvSpPr>
          <p:nvPr>
            <p:ph idx="1"/>
          </p:nvPr>
        </p:nvSpPr>
        <p:spPr/>
        <p:txBody>
          <a:bodyPr>
            <a:normAutofit/>
          </a:bodyPr>
          <a:lstStyle/>
          <a:p>
            <a:r>
              <a:rPr lang="en-US" sz="1800" u="sng" dirty="0"/>
              <a:t>What could I make?</a:t>
            </a:r>
          </a:p>
          <a:p>
            <a:pPr marL="0" indent="0">
              <a:buNone/>
            </a:pPr>
            <a:r>
              <a:rPr lang="en-US" sz="1800" dirty="0"/>
              <a:t>I could make a Hangman game in Python, a snake game, a quiz program, or  calculator program.</a:t>
            </a:r>
          </a:p>
          <a:p>
            <a:r>
              <a:rPr lang="en-US" sz="1800" u="sng" dirty="0"/>
              <a:t>Why did I choose this?</a:t>
            </a:r>
          </a:p>
          <a:p>
            <a:pPr marL="0" indent="0">
              <a:buNone/>
            </a:pPr>
            <a:r>
              <a:rPr lang="en-US" sz="1800" dirty="0"/>
              <a:t>I am going to make a Hangman game because it will allow me use various skills and I have plenty of ideas to make it more unique then a standard hangman game.</a:t>
            </a:r>
          </a:p>
          <a:p>
            <a:r>
              <a:rPr lang="en-US" sz="1800" u="sng" dirty="0"/>
              <a:t>Why not chose this?</a:t>
            </a:r>
          </a:p>
          <a:p>
            <a:pPr marL="0" indent="0">
              <a:buNone/>
            </a:pPr>
            <a:r>
              <a:rPr lang="en-US" sz="1800" dirty="0"/>
              <a:t>I don’t think I could add anything complex to a snake game or a quiz program, a calculator program seems like something too simple but also interesting to create, however I think I could do something more with a Hangman game.</a:t>
            </a:r>
          </a:p>
          <a:p>
            <a:pPr marL="0" indent="0">
              <a:buNone/>
            </a:pPr>
            <a:endParaRPr lang="en-US" sz="1800" dirty="0"/>
          </a:p>
        </p:txBody>
      </p:sp>
    </p:spTree>
    <p:extLst>
      <p:ext uri="{BB962C8B-B14F-4D97-AF65-F5344CB8AC3E}">
        <p14:creationId xmlns:p14="http://schemas.microsoft.com/office/powerpoint/2010/main" val="2106619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93F23-8A7D-4926-948A-120F154F84E6}"/>
              </a:ext>
            </a:extLst>
          </p:cNvPr>
          <p:cNvSpPr>
            <a:spLocks noGrp="1"/>
          </p:cNvSpPr>
          <p:nvPr>
            <p:ph type="title"/>
          </p:nvPr>
        </p:nvSpPr>
        <p:spPr/>
        <p:txBody>
          <a:bodyPr/>
          <a:lstStyle/>
          <a:p>
            <a:r>
              <a:rPr lang="en-US" dirty="0"/>
              <a:t>Proposals Cont.</a:t>
            </a:r>
          </a:p>
        </p:txBody>
      </p:sp>
      <p:sp>
        <p:nvSpPr>
          <p:cNvPr id="3" name="Content Placeholder 2">
            <a:extLst>
              <a:ext uri="{FF2B5EF4-FFF2-40B4-BE49-F238E27FC236}">
                <a16:creationId xmlns:a16="http://schemas.microsoft.com/office/drawing/2014/main" id="{DA0CFDB6-3C83-465F-AFB4-E5B338C9330E}"/>
              </a:ext>
            </a:extLst>
          </p:cNvPr>
          <p:cNvSpPr>
            <a:spLocks noGrp="1"/>
          </p:cNvSpPr>
          <p:nvPr>
            <p:ph idx="1"/>
          </p:nvPr>
        </p:nvSpPr>
        <p:spPr/>
        <p:txBody>
          <a:bodyPr>
            <a:normAutofit fontScale="92500" lnSpcReduction="20000"/>
          </a:bodyPr>
          <a:lstStyle/>
          <a:p>
            <a:r>
              <a:rPr lang="en-US" sz="1800" u="sng" dirty="0"/>
              <a:t>What does it do?</a:t>
            </a:r>
          </a:p>
          <a:p>
            <a:pPr marL="0" indent="0">
              <a:buNone/>
            </a:pPr>
            <a:r>
              <a:rPr lang="en-US" sz="1800" dirty="0"/>
              <a:t>My Hangman game will allow the user to select a random word from a text file, the user can also add their own lists to chose from, the user can also enter a word to use if they would like to play with their friends. The game will save the user’s time taken, guesses used, win/loss and the word they were guessing, the user will be able to export their session results to a text file</a:t>
            </a:r>
          </a:p>
          <a:p>
            <a:r>
              <a:rPr lang="en-US" sz="1800" u="sng" dirty="0"/>
              <a:t>What could it do?</a:t>
            </a:r>
          </a:p>
          <a:p>
            <a:pPr marL="0" indent="0">
              <a:buNone/>
            </a:pPr>
            <a:r>
              <a:rPr lang="en-US" sz="1800" dirty="0"/>
              <a:t>I could make it refuse to accept wordlists with offensive names, this however would be hard to implement and would require a large list of offensive terms to check file names against.</a:t>
            </a:r>
          </a:p>
          <a:p>
            <a:pPr marL="0" indent="0">
              <a:buNone/>
            </a:pPr>
            <a:r>
              <a:rPr lang="en-US" sz="1800" dirty="0"/>
              <a:t>I could allow the user to delete word lists if they would like, this would fulfil the above problem because if a user was offended by a name, they could remove it.</a:t>
            </a:r>
          </a:p>
          <a:p>
            <a:pPr marL="0" indent="0">
              <a:buNone/>
            </a:pPr>
            <a:r>
              <a:rPr lang="en-US" sz="1800" dirty="0"/>
              <a:t>I could make the game statistics sortable by each statistic.</a:t>
            </a:r>
          </a:p>
          <a:p>
            <a:r>
              <a:rPr lang="en-US" sz="1800" u="sng" dirty="0"/>
              <a:t>Why should it do that?</a:t>
            </a:r>
          </a:p>
          <a:p>
            <a:pPr marL="0" indent="0">
              <a:buNone/>
            </a:pPr>
            <a:r>
              <a:rPr lang="en-US" sz="1800" dirty="0"/>
              <a:t>The program would further fulfil social and cultural implications by doing so, it would make sure that anyone can use the program by using gender neutral and non-offensive language everywhere.</a:t>
            </a:r>
          </a:p>
          <a:p>
            <a:pPr marL="0" indent="0">
              <a:buNone/>
            </a:pPr>
            <a:r>
              <a:rPr lang="en-US" sz="1800" dirty="0"/>
              <a:t>Making the game statistics sortable by each statistic would allow users to quickly find out specific information, this would also fulfil the accessibility implication. </a:t>
            </a:r>
          </a:p>
        </p:txBody>
      </p:sp>
    </p:spTree>
    <p:extLst>
      <p:ext uri="{BB962C8B-B14F-4D97-AF65-F5344CB8AC3E}">
        <p14:creationId xmlns:p14="http://schemas.microsoft.com/office/powerpoint/2010/main" val="1147554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11B93-996D-4FC0-998D-73600F00E577}"/>
              </a:ext>
            </a:extLst>
          </p:cNvPr>
          <p:cNvSpPr>
            <a:spLocks noGrp="1"/>
          </p:cNvSpPr>
          <p:nvPr>
            <p:ph type="title"/>
          </p:nvPr>
        </p:nvSpPr>
        <p:spPr/>
        <p:txBody>
          <a:bodyPr/>
          <a:lstStyle/>
          <a:p>
            <a:r>
              <a:rPr lang="en-US" dirty="0"/>
              <a:t>Addressing Relevant Implications </a:t>
            </a:r>
          </a:p>
        </p:txBody>
      </p:sp>
      <p:sp>
        <p:nvSpPr>
          <p:cNvPr id="6" name="Content Placeholder 5">
            <a:extLst>
              <a:ext uri="{FF2B5EF4-FFF2-40B4-BE49-F238E27FC236}">
                <a16:creationId xmlns:a16="http://schemas.microsoft.com/office/drawing/2014/main" id="{0F5E4C03-2018-47F6-A53C-6339296A4540}"/>
              </a:ext>
            </a:extLst>
          </p:cNvPr>
          <p:cNvSpPr>
            <a:spLocks noGrp="1"/>
          </p:cNvSpPr>
          <p:nvPr>
            <p:ph sz="half" idx="1"/>
          </p:nvPr>
        </p:nvSpPr>
        <p:spPr/>
        <p:txBody>
          <a:bodyPr>
            <a:normAutofit/>
          </a:bodyPr>
          <a:lstStyle/>
          <a:p>
            <a:pPr marL="0" indent="0">
              <a:buNone/>
            </a:pPr>
            <a:r>
              <a:rPr lang="en-US" sz="1800" u="sng" dirty="0"/>
              <a:t>Social Implications</a:t>
            </a:r>
          </a:p>
          <a:p>
            <a:r>
              <a:rPr lang="en-US" sz="1800" dirty="0"/>
              <a:t>My program will use gender neutral language whenever possible and avoid using offensive symbols as to not cause harm to any users.</a:t>
            </a:r>
          </a:p>
          <a:p>
            <a:r>
              <a:rPr lang="en-US" sz="1800" dirty="0"/>
              <a:t>I will keep the language formal and easy to understand as to make sure everyone can use my program.</a:t>
            </a:r>
          </a:p>
          <a:p>
            <a:pPr marL="0" indent="0">
              <a:buNone/>
            </a:pPr>
            <a:endParaRPr lang="en-US" sz="1800" dirty="0"/>
          </a:p>
        </p:txBody>
      </p:sp>
      <p:sp>
        <p:nvSpPr>
          <p:cNvPr id="7" name="Content Placeholder 6">
            <a:extLst>
              <a:ext uri="{FF2B5EF4-FFF2-40B4-BE49-F238E27FC236}">
                <a16:creationId xmlns:a16="http://schemas.microsoft.com/office/drawing/2014/main" id="{08E7C1A0-9DF9-431A-BB2C-C318D07F88FB}"/>
              </a:ext>
            </a:extLst>
          </p:cNvPr>
          <p:cNvSpPr>
            <a:spLocks noGrp="1"/>
          </p:cNvSpPr>
          <p:nvPr>
            <p:ph sz="half" idx="2"/>
          </p:nvPr>
        </p:nvSpPr>
        <p:spPr/>
        <p:txBody>
          <a:bodyPr>
            <a:normAutofit/>
          </a:bodyPr>
          <a:lstStyle/>
          <a:p>
            <a:pPr marL="0" indent="0">
              <a:buNone/>
            </a:pPr>
            <a:r>
              <a:rPr lang="en-US" sz="1800" u="sng" dirty="0"/>
              <a:t>Cultural Implications</a:t>
            </a:r>
          </a:p>
          <a:p>
            <a:r>
              <a:rPr lang="en-US" sz="1800" dirty="0"/>
              <a:t>My program will not use any offensive material to any culture and will be useable by all people, in order to cause less offense my program will allow users to delete word lists, users can delete any word lists that they feel has offended them or has offensive content. This is because I cannot possibly make my program filter every single offensive term and check each list and list name for offensive terms.</a:t>
            </a:r>
          </a:p>
          <a:p>
            <a:r>
              <a:rPr lang="en-US" sz="1800" dirty="0"/>
              <a:t>I will make sure that my program is inclusive by not using any text or images that could offend any groups.</a:t>
            </a:r>
          </a:p>
        </p:txBody>
      </p:sp>
    </p:spTree>
    <p:extLst>
      <p:ext uri="{BB962C8B-B14F-4D97-AF65-F5344CB8AC3E}">
        <p14:creationId xmlns:p14="http://schemas.microsoft.com/office/powerpoint/2010/main" val="926360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505A-C76B-4A6F-8BC7-E011DE6B32F5}"/>
              </a:ext>
            </a:extLst>
          </p:cNvPr>
          <p:cNvSpPr>
            <a:spLocks noGrp="1"/>
          </p:cNvSpPr>
          <p:nvPr>
            <p:ph type="title"/>
          </p:nvPr>
        </p:nvSpPr>
        <p:spPr/>
        <p:txBody>
          <a:bodyPr/>
          <a:lstStyle/>
          <a:p>
            <a:r>
              <a:rPr lang="en-US" dirty="0"/>
              <a:t>Addressing Relevant Implications </a:t>
            </a:r>
          </a:p>
        </p:txBody>
      </p:sp>
      <p:sp>
        <p:nvSpPr>
          <p:cNvPr id="3" name="Content Placeholder 2">
            <a:extLst>
              <a:ext uri="{FF2B5EF4-FFF2-40B4-BE49-F238E27FC236}">
                <a16:creationId xmlns:a16="http://schemas.microsoft.com/office/drawing/2014/main" id="{88264A38-EA22-47D9-B037-F3203A556444}"/>
              </a:ext>
            </a:extLst>
          </p:cNvPr>
          <p:cNvSpPr>
            <a:spLocks noGrp="1"/>
          </p:cNvSpPr>
          <p:nvPr>
            <p:ph sz="half" idx="1"/>
          </p:nvPr>
        </p:nvSpPr>
        <p:spPr/>
        <p:txBody>
          <a:bodyPr>
            <a:normAutofit/>
          </a:bodyPr>
          <a:lstStyle/>
          <a:p>
            <a:pPr marL="0" indent="0">
              <a:buNone/>
            </a:pPr>
            <a:r>
              <a:rPr lang="en-US" sz="1800" u="sng" dirty="0"/>
              <a:t>Legal</a:t>
            </a:r>
          </a:p>
          <a:p>
            <a:r>
              <a:rPr lang="en-US" sz="1800" dirty="0"/>
              <a:t>In order to comply with copyright law I will only use images or text licensed for re-use or images I have created.</a:t>
            </a:r>
          </a:p>
          <a:p>
            <a:r>
              <a:rPr lang="en-US" sz="1800" dirty="0"/>
              <a:t>In order to comply with privacy law I will not use images or depictions of people without their express permission to do so.</a:t>
            </a:r>
          </a:p>
        </p:txBody>
      </p:sp>
      <p:sp>
        <p:nvSpPr>
          <p:cNvPr id="4" name="Content Placeholder 3">
            <a:extLst>
              <a:ext uri="{FF2B5EF4-FFF2-40B4-BE49-F238E27FC236}">
                <a16:creationId xmlns:a16="http://schemas.microsoft.com/office/drawing/2014/main" id="{719834F4-6542-4BE0-84E6-BCA9B9A19A4B}"/>
              </a:ext>
            </a:extLst>
          </p:cNvPr>
          <p:cNvSpPr>
            <a:spLocks noGrp="1"/>
          </p:cNvSpPr>
          <p:nvPr>
            <p:ph sz="half" idx="2"/>
          </p:nvPr>
        </p:nvSpPr>
        <p:spPr/>
        <p:txBody>
          <a:bodyPr>
            <a:normAutofit/>
          </a:bodyPr>
          <a:lstStyle/>
          <a:p>
            <a:pPr marL="0" indent="0">
              <a:buNone/>
            </a:pPr>
            <a:r>
              <a:rPr lang="en-US" sz="1800" u="sng" dirty="0"/>
              <a:t>Intellectual Property</a:t>
            </a:r>
          </a:p>
          <a:p>
            <a:r>
              <a:rPr lang="en-US" sz="1800" dirty="0"/>
              <a:t>I will not copy any property without express permission, any intellectual property I use will be licensed for re-use under creative commons.</a:t>
            </a:r>
          </a:p>
          <a:p>
            <a:r>
              <a:rPr lang="en-US" sz="1800" dirty="0"/>
              <a:t>Information used will be from my own knowledge or from the public domain.</a:t>
            </a:r>
          </a:p>
          <a:p>
            <a:r>
              <a:rPr lang="en-US" sz="1800" dirty="0"/>
              <a:t>Any information or intellectual property used will be credited to the relevant publisher/owner.</a:t>
            </a:r>
          </a:p>
          <a:p>
            <a:endParaRPr lang="en-US" sz="1800" u="sng" dirty="0"/>
          </a:p>
        </p:txBody>
      </p:sp>
    </p:spTree>
    <p:extLst>
      <p:ext uri="{BB962C8B-B14F-4D97-AF65-F5344CB8AC3E}">
        <p14:creationId xmlns:p14="http://schemas.microsoft.com/office/powerpoint/2010/main" val="1719108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505A-C76B-4A6F-8BC7-E011DE6B32F5}"/>
              </a:ext>
            </a:extLst>
          </p:cNvPr>
          <p:cNvSpPr>
            <a:spLocks noGrp="1"/>
          </p:cNvSpPr>
          <p:nvPr>
            <p:ph type="title"/>
          </p:nvPr>
        </p:nvSpPr>
        <p:spPr/>
        <p:txBody>
          <a:bodyPr/>
          <a:lstStyle/>
          <a:p>
            <a:r>
              <a:rPr lang="en-US" dirty="0"/>
              <a:t>Addressing Relevant Implications </a:t>
            </a:r>
          </a:p>
        </p:txBody>
      </p:sp>
      <p:sp>
        <p:nvSpPr>
          <p:cNvPr id="3" name="Content Placeholder 2">
            <a:extLst>
              <a:ext uri="{FF2B5EF4-FFF2-40B4-BE49-F238E27FC236}">
                <a16:creationId xmlns:a16="http://schemas.microsoft.com/office/drawing/2014/main" id="{88264A38-EA22-47D9-B037-F3203A556444}"/>
              </a:ext>
            </a:extLst>
          </p:cNvPr>
          <p:cNvSpPr>
            <a:spLocks noGrp="1"/>
          </p:cNvSpPr>
          <p:nvPr>
            <p:ph sz="half" idx="1"/>
          </p:nvPr>
        </p:nvSpPr>
        <p:spPr/>
        <p:txBody>
          <a:bodyPr>
            <a:normAutofit/>
          </a:bodyPr>
          <a:lstStyle/>
          <a:p>
            <a:pPr marL="0" indent="0">
              <a:buNone/>
            </a:pPr>
            <a:r>
              <a:rPr lang="en-US" sz="1800" u="sng" dirty="0"/>
              <a:t>Ethical</a:t>
            </a:r>
          </a:p>
          <a:p>
            <a:r>
              <a:rPr lang="en-US" sz="1800" dirty="0"/>
              <a:t>My program will not collect user data, in order to fulfil the ethical considerations my program will not insult, offend or spy on users. </a:t>
            </a:r>
          </a:p>
          <a:p>
            <a:r>
              <a:rPr lang="en-US" sz="1800" dirty="0"/>
              <a:t>For example my program will not use the user’s CPU or GPU to mine for crypto currency. </a:t>
            </a:r>
          </a:p>
        </p:txBody>
      </p:sp>
      <p:sp>
        <p:nvSpPr>
          <p:cNvPr id="4" name="Content Placeholder 3">
            <a:extLst>
              <a:ext uri="{FF2B5EF4-FFF2-40B4-BE49-F238E27FC236}">
                <a16:creationId xmlns:a16="http://schemas.microsoft.com/office/drawing/2014/main" id="{719834F4-6542-4BE0-84E6-BCA9B9A19A4B}"/>
              </a:ext>
            </a:extLst>
          </p:cNvPr>
          <p:cNvSpPr>
            <a:spLocks noGrp="1"/>
          </p:cNvSpPr>
          <p:nvPr>
            <p:ph sz="half" idx="2"/>
          </p:nvPr>
        </p:nvSpPr>
        <p:spPr/>
        <p:txBody>
          <a:bodyPr>
            <a:normAutofit/>
          </a:bodyPr>
          <a:lstStyle/>
          <a:p>
            <a:pPr marL="0" indent="0">
              <a:buNone/>
            </a:pPr>
            <a:r>
              <a:rPr lang="en-US" sz="1800" u="sng" dirty="0"/>
              <a:t>Privacy</a:t>
            </a:r>
          </a:p>
          <a:p>
            <a:r>
              <a:rPr lang="en-US" sz="1800" dirty="0"/>
              <a:t>I will not collect data; therefore I will not have to store any user information. The only data stored by the program is non-personal and is saved to the same folder as the program.</a:t>
            </a:r>
          </a:p>
          <a:p>
            <a:endParaRPr lang="en-US" sz="1800" u="sng" dirty="0"/>
          </a:p>
        </p:txBody>
      </p:sp>
    </p:spTree>
    <p:extLst>
      <p:ext uri="{BB962C8B-B14F-4D97-AF65-F5344CB8AC3E}">
        <p14:creationId xmlns:p14="http://schemas.microsoft.com/office/powerpoint/2010/main" val="1402021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505A-C76B-4A6F-8BC7-E011DE6B32F5}"/>
              </a:ext>
            </a:extLst>
          </p:cNvPr>
          <p:cNvSpPr>
            <a:spLocks noGrp="1"/>
          </p:cNvSpPr>
          <p:nvPr>
            <p:ph type="title"/>
          </p:nvPr>
        </p:nvSpPr>
        <p:spPr/>
        <p:txBody>
          <a:bodyPr/>
          <a:lstStyle/>
          <a:p>
            <a:r>
              <a:rPr lang="en-US" dirty="0"/>
              <a:t>Addressing Relevant Implications </a:t>
            </a:r>
          </a:p>
        </p:txBody>
      </p:sp>
      <p:sp>
        <p:nvSpPr>
          <p:cNvPr id="3" name="Content Placeholder 2">
            <a:extLst>
              <a:ext uri="{FF2B5EF4-FFF2-40B4-BE49-F238E27FC236}">
                <a16:creationId xmlns:a16="http://schemas.microsoft.com/office/drawing/2014/main" id="{88264A38-EA22-47D9-B037-F3203A556444}"/>
              </a:ext>
            </a:extLst>
          </p:cNvPr>
          <p:cNvSpPr>
            <a:spLocks noGrp="1"/>
          </p:cNvSpPr>
          <p:nvPr>
            <p:ph sz="half" idx="1"/>
          </p:nvPr>
        </p:nvSpPr>
        <p:spPr/>
        <p:txBody>
          <a:bodyPr>
            <a:normAutofit/>
          </a:bodyPr>
          <a:lstStyle/>
          <a:p>
            <a:pPr marL="0" indent="0">
              <a:buNone/>
            </a:pPr>
            <a:r>
              <a:rPr lang="en-US" sz="1800" u="sng" dirty="0"/>
              <a:t>Health and Safety</a:t>
            </a:r>
          </a:p>
          <a:p>
            <a:r>
              <a:rPr lang="en-US" sz="1800" dirty="0"/>
              <a:t>My program will have no online component, this is to prevent harassment and cyber-bullying.</a:t>
            </a:r>
          </a:p>
          <a:p>
            <a:r>
              <a:rPr lang="en-US" sz="1800" dirty="0"/>
              <a:t>My program will have a timer displayed to show how long the program has been running for, when the timer reaches 15 minutes, a message will pop up suggesting to the user that they should take a break to prevent eye strain.</a:t>
            </a:r>
          </a:p>
        </p:txBody>
      </p:sp>
      <p:sp>
        <p:nvSpPr>
          <p:cNvPr id="4" name="Content Placeholder 3">
            <a:extLst>
              <a:ext uri="{FF2B5EF4-FFF2-40B4-BE49-F238E27FC236}">
                <a16:creationId xmlns:a16="http://schemas.microsoft.com/office/drawing/2014/main" id="{719834F4-6542-4BE0-84E6-BCA9B9A19A4B}"/>
              </a:ext>
            </a:extLst>
          </p:cNvPr>
          <p:cNvSpPr>
            <a:spLocks noGrp="1"/>
          </p:cNvSpPr>
          <p:nvPr>
            <p:ph sz="half" idx="2"/>
          </p:nvPr>
        </p:nvSpPr>
        <p:spPr/>
        <p:txBody>
          <a:bodyPr>
            <a:normAutofit/>
          </a:bodyPr>
          <a:lstStyle/>
          <a:p>
            <a:pPr marL="0" indent="0">
              <a:buNone/>
            </a:pPr>
            <a:r>
              <a:rPr lang="en-US" sz="1800" u="sng" dirty="0"/>
              <a:t>Aesthetics</a:t>
            </a:r>
          </a:p>
          <a:p>
            <a:pPr lvl="1"/>
            <a:r>
              <a:rPr lang="en-US" sz="1800" dirty="0"/>
              <a:t>My program will be pleasant to look at, I will use complimentary colours that are not harsh on the eyes, especially in the dark.</a:t>
            </a:r>
          </a:p>
          <a:p>
            <a:pPr lvl="1"/>
            <a:r>
              <a:rPr lang="en-US" sz="1800" dirty="0"/>
              <a:t>My program will use an easy to read font that does not look too bad, this will improve readability for the user.</a:t>
            </a:r>
          </a:p>
          <a:p>
            <a:endParaRPr lang="en-US" sz="1800" u="sng" dirty="0"/>
          </a:p>
        </p:txBody>
      </p:sp>
    </p:spTree>
    <p:extLst>
      <p:ext uri="{BB962C8B-B14F-4D97-AF65-F5344CB8AC3E}">
        <p14:creationId xmlns:p14="http://schemas.microsoft.com/office/powerpoint/2010/main" val="1223904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C1CC0-8ECE-47C5-A3DB-E3894301979B}"/>
              </a:ext>
            </a:extLst>
          </p:cNvPr>
          <p:cNvSpPr>
            <a:spLocks noGrp="1"/>
          </p:cNvSpPr>
          <p:nvPr>
            <p:ph type="title"/>
          </p:nvPr>
        </p:nvSpPr>
        <p:spPr/>
        <p:txBody>
          <a:bodyPr/>
          <a:lstStyle/>
          <a:p>
            <a:r>
              <a:rPr lang="en-US" dirty="0"/>
              <a:t>End User Considerations</a:t>
            </a:r>
          </a:p>
        </p:txBody>
      </p:sp>
      <p:sp>
        <p:nvSpPr>
          <p:cNvPr id="3" name="Content Placeholder 2">
            <a:extLst>
              <a:ext uri="{FF2B5EF4-FFF2-40B4-BE49-F238E27FC236}">
                <a16:creationId xmlns:a16="http://schemas.microsoft.com/office/drawing/2014/main" id="{35C9BF72-E9EA-467F-94E8-023D1B5BA920}"/>
              </a:ext>
            </a:extLst>
          </p:cNvPr>
          <p:cNvSpPr>
            <a:spLocks noGrp="1"/>
          </p:cNvSpPr>
          <p:nvPr>
            <p:ph idx="1"/>
          </p:nvPr>
        </p:nvSpPr>
        <p:spPr/>
        <p:txBody>
          <a:bodyPr>
            <a:normAutofit/>
          </a:bodyPr>
          <a:lstStyle/>
          <a:p>
            <a:r>
              <a:rPr lang="en-US" sz="1800" dirty="0"/>
              <a:t>My program will be attractive to look at, have an easy to use GUI with simple instructions, as well as more in-depth ones if the user wishes to look at them. </a:t>
            </a:r>
          </a:p>
          <a:p>
            <a:r>
              <a:rPr lang="en-US" sz="1800" dirty="0"/>
              <a:t>My program will take into account the users health and safety to make sure that no harm is done by the program.</a:t>
            </a:r>
          </a:p>
          <a:p>
            <a:r>
              <a:rPr lang="en-US" sz="1800" dirty="0"/>
              <a:t>It will be inclusive and accessible to everyone; this includes using gender-neutral language and non-offensive symbols to make sure nobody is offended by my program.</a:t>
            </a:r>
          </a:p>
          <a:p>
            <a:r>
              <a:rPr lang="en-US" sz="1800" dirty="0"/>
              <a:t>My program will be private, no user data will be stored, and game data will only be saved if the user wishes it to be saved, that can then be deleted afterwards by the user.</a:t>
            </a:r>
          </a:p>
          <a:p>
            <a:r>
              <a:rPr lang="en-US" sz="1800" dirty="0"/>
              <a:t>My program will not use any copyright protected material and will only use material of my own making or material licensed for re-use.</a:t>
            </a:r>
          </a:p>
        </p:txBody>
      </p:sp>
    </p:spTree>
    <p:extLst>
      <p:ext uri="{BB962C8B-B14F-4D97-AF65-F5344CB8AC3E}">
        <p14:creationId xmlns:p14="http://schemas.microsoft.com/office/powerpoint/2010/main" val="335254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8CB0-932E-4B50-94B8-BB71A9727EC2}"/>
              </a:ext>
            </a:extLst>
          </p:cNvPr>
          <p:cNvSpPr>
            <a:spLocks noGrp="1"/>
          </p:cNvSpPr>
          <p:nvPr>
            <p:ph type="title"/>
          </p:nvPr>
        </p:nvSpPr>
        <p:spPr/>
        <p:txBody>
          <a:bodyPr/>
          <a:lstStyle/>
          <a:p>
            <a:r>
              <a:rPr lang="en-US" dirty="0"/>
              <a:t>Brief / Introduction</a:t>
            </a:r>
          </a:p>
        </p:txBody>
      </p:sp>
      <p:sp>
        <p:nvSpPr>
          <p:cNvPr id="3" name="Content Placeholder 2">
            <a:extLst>
              <a:ext uri="{FF2B5EF4-FFF2-40B4-BE49-F238E27FC236}">
                <a16:creationId xmlns:a16="http://schemas.microsoft.com/office/drawing/2014/main" id="{2013E43A-9D27-465B-97A8-E34C20699264}"/>
              </a:ext>
            </a:extLst>
          </p:cNvPr>
          <p:cNvSpPr>
            <a:spLocks noGrp="1"/>
          </p:cNvSpPr>
          <p:nvPr>
            <p:ph idx="1"/>
          </p:nvPr>
        </p:nvSpPr>
        <p:spPr/>
        <p:txBody>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For my program I will be creating a Hangman game in Python with a GUI. I will be using the python library Tkinter for this, I will also be using GitHub and the Git application to keep previous versions. I will be making use of classes and modules to create a program, I will follow naming conventions for variables to create public and private variables as they are necessary for this standard even though Python does not support them.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The program will ask users if they want to select a random word from a list stored in a text file, or a word the user has entered. The user will be able to view their previous results and see how long they took and how many guesses they needed to win, the user will be able to export their results to a text file, the user will also be able to import word lists from a text file. The user will be able to guess either letters or a word using an onscreen keyboard made in the program, or by typing into an entry box.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75220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72B1C-6B43-48C7-A61F-FAE9E7568795}"/>
              </a:ext>
            </a:extLst>
          </p:cNvPr>
          <p:cNvSpPr>
            <a:spLocks noGrp="1"/>
          </p:cNvSpPr>
          <p:nvPr>
            <p:ph type="title"/>
          </p:nvPr>
        </p:nvSpPr>
        <p:spPr/>
        <p:txBody>
          <a:bodyPr/>
          <a:lstStyle/>
          <a:p>
            <a:r>
              <a:rPr lang="en-US" dirty="0"/>
              <a:t>Specifications and Constraints </a:t>
            </a:r>
          </a:p>
        </p:txBody>
      </p:sp>
      <p:sp>
        <p:nvSpPr>
          <p:cNvPr id="3" name="Content Placeholder 2">
            <a:extLst>
              <a:ext uri="{FF2B5EF4-FFF2-40B4-BE49-F238E27FC236}">
                <a16:creationId xmlns:a16="http://schemas.microsoft.com/office/drawing/2014/main" id="{3DB72B65-0FCF-43F3-AE48-1C98E4970ABD}"/>
              </a:ext>
            </a:extLst>
          </p:cNvPr>
          <p:cNvSpPr>
            <a:spLocks noGrp="1"/>
          </p:cNvSpPr>
          <p:nvPr>
            <p:ph idx="1"/>
          </p:nvPr>
        </p:nvSpPr>
        <p:spPr/>
        <p:txBody>
          <a:bodyPr/>
          <a:lstStyle/>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The player will get 10 guesses per phrase.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Only phrases consisting of alphabetical characters that are under an undecided character limit.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The time taken and guesses remaining/used, will be stored after a game has finished.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The average and best statistics will be displayed, all statistics will be displayed on the game history window.</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Statistics will be able to be exported to a text file.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Wordlists will be importable from a text file.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If the player quits the game will not save.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The game window cannot be resized or full screen, it can be minimized and moved around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60859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4E449-5BA5-4DE2-B8D4-1CAFC67D0F0B}"/>
              </a:ext>
            </a:extLst>
          </p:cNvPr>
          <p:cNvSpPr>
            <a:spLocks noGrp="1"/>
          </p:cNvSpPr>
          <p:nvPr>
            <p:ph type="title"/>
          </p:nvPr>
        </p:nvSpPr>
        <p:spPr/>
        <p:txBody>
          <a:bodyPr/>
          <a:lstStyle/>
          <a:p>
            <a:r>
              <a:rPr lang="en-US" dirty="0"/>
              <a:t>Resources used.</a:t>
            </a:r>
          </a:p>
        </p:txBody>
      </p:sp>
      <p:sp>
        <p:nvSpPr>
          <p:cNvPr id="3" name="Content Placeholder 2">
            <a:extLst>
              <a:ext uri="{FF2B5EF4-FFF2-40B4-BE49-F238E27FC236}">
                <a16:creationId xmlns:a16="http://schemas.microsoft.com/office/drawing/2014/main" id="{E7114D0E-D5DF-43F8-BDA9-BFBFFFFB3CA3}"/>
              </a:ext>
            </a:extLst>
          </p:cNvPr>
          <p:cNvSpPr>
            <a:spLocks noGrp="1"/>
          </p:cNvSpPr>
          <p:nvPr>
            <p:ph idx="1"/>
          </p:nvPr>
        </p:nvSpPr>
        <p:spPr/>
        <p:txBody>
          <a:bodyPr/>
          <a:lstStyle/>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Python 3.8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Wing IDE Pro 7.2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GitHub and Git GUI 2.26.2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Lucid Charts Diagrams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NumPy library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time library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random library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Tkinter library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40189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3FC-2104-4C12-85D4-62E0300C3798}"/>
              </a:ext>
            </a:extLst>
          </p:cNvPr>
          <p:cNvSpPr>
            <a:spLocks noGrp="1"/>
          </p:cNvSpPr>
          <p:nvPr>
            <p:ph type="title"/>
          </p:nvPr>
        </p:nvSpPr>
        <p:spPr>
          <a:xfrm>
            <a:off x="838200" y="412259"/>
            <a:ext cx="10515600" cy="1325563"/>
          </a:xfrm>
        </p:spPr>
        <p:txBody>
          <a:bodyPr/>
          <a:lstStyle/>
          <a:p>
            <a:r>
              <a:rPr lang="en-US" dirty="0"/>
              <a:t>Timeline (Gannt Chart)</a:t>
            </a:r>
          </a:p>
        </p:txBody>
      </p:sp>
      <p:sp>
        <p:nvSpPr>
          <p:cNvPr id="3" name="Content Placeholder 2">
            <a:extLst>
              <a:ext uri="{FF2B5EF4-FFF2-40B4-BE49-F238E27FC236}">
                <a16:creationId xmlns:a16="http://schemas.microsoft.com/office/drawing/2014/main" id="{9A7E7196-892C-4810-BD46-09EF1AC9F80A}"/>
              </a:ext>
            </a:extLst>
          </p:cNvPr>
          <p:cNvSpPr>
            <a:spLocks noGrp="1"/>
          </p:cNvSpPr>
          <p:nvPr>
            <p:ph idx="1"/>
          </p:nvPr>
        </p:nvSpPr>
        <p:spPr/>
        <p:txBody>
          <a:bodyPr>
            <a:normAutofit/>
          </a:bodyPr>
          <a:lstStyle/>
          <a:p>
            <a:r>
              <a:rPr lang="en-US" sz="1800" dirty="0"/>
              <a:t>Located in folder.</a:t>
            </a:r>
          </a:p>
        </p:txBody>
      </p:sp>
    </p:spTree>
    <p:extLst>
      <p:ext uri="{BB962C8B-B14F-4D97-AF65-F5344CB8AC3E}">
        <p14:creationId xmlns:p14="http://schemas.microsoft.com/office/powerpoint/2010/main" val="3597927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C4516-80B5-405E-8712-24F42AB75E09}"/>
              </a:ext>
            </a:extLst>
          </p:cNvPr>
          <p:cNvSpPr>
            <a:spLocks noGrp="1"/>
          </p:cNvSpPr>
          <p:nvPr>
            <p:ph type="title"/>
          </p:nvPr>
        </p:nvSpPr>
        <p:spPr/>
        <p:txBody>
          <a:bodyPr/>
          <a:lstStyle/>
          <a:p>
            <a:r>
              <a:rPr lang="en-US" dirty="0"/>
              <a:t>Version Control</a:t>
            </a:r>
          </a:p>
        </p:txBody>
      </p:sp>
      <p:sp>
        <p:nvSpPr>
          <p:cNvPr id="3" name="Content Placeholder 2">
            <a:extLst>
              <a:ext uri="{FF2B5EF4-FFF2-40B4-BE49-F238E27FC236}">
                <a16:creationId xmlns:a16="http://schemas.microsoft.com/office/drawing/2014/main" id="{9D7621E5-6212-4956-8BF5-78FBBDDCE71B}"/>
              </a:ext>
            </a:extLst>
          </p:cNvPr>
          <p:cNvSpPr>
            <a:spLocks noGrp="1"/>
          </p:cNvSpPr>
          <p:nvPr>
            <p:ph idx="1"/>
          </p:nvPr>
        </p:nvSpPr>
        <p:spPr/>
        <p:txBody>
          <a:bodyPr>
            <a:normAutofit/>
          </a:bodyPr>
          <a:lstStyle/>
          <a:p>
            <a:r>
              <a:rPr lang="en-US" sz="1800" dirty="0"/>
              <a:t>I will be using the Git desktop client to keep older versions; I will then upload this to GitHub at the end of the project for easy access.</a:t>
            </a:r>
          </a:p>
        </p:txBody>
      </p:sp>
    </p:spTree>
    <p:extLst>
      <p:ext uri="{BB962C8B-B14F-4D97-AF65-F5344CB8AC3E}">
        <p14:creationId xmlns:p14="http://schemas.microsoft.com/office/powerpoint/2010/main" val="40288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97E80-7E1D-4583-B228-B178B0683302}"/>
              </a:ext>
            </a:extLst>
          </p:cNvPr>
          <p:cNvSpPr>
            <a:spLocks noGrp="1"/>
          </p:cNvSpPr>
          <p:nvPr>
            <p:ph type="title"/>
          </p:nvPr>
        </p:nvSpPr>
        <p:spPr/>
        <p:txBody>
          <a:bodyPr/>
          <a:lstStyle/>
          <a:p>
            <a:r>
              <a:rPr lang="en-US" dirty="0"/>
              <a:t>Classes</a:t>
            </a:r>
          </a:p>
        </p:txBody>
      </p:sp>
      <p:graphicFrame>
        <p:nvGraphicFramePr>
          <p:cNvPr id="4" name="Table 3">
            <a:extLst>
              <a:ext uri="{FF2B5EF4-FFF2-40B4-BE49-F238E27FC236}">
                <a16:creationId xmlns:a16="http://schemas.microsoft.com/office/drawing/2014/main" id="{38D4591E-D2CD-4E45-846A-89240E700831}"/>
              </a:ext>
            </a:extLst>
          </p:cNvPr>
          <p:cNvGraphicFramePr>
            <a:graphicFrameLocks noGrp="1"/>
          </p:cNvGraphicFramePr>
          <p:nvPr>
            <p:extLst>
              <p:ext uri="{D42A27DB-BD31-4B8C-83A1-F6EECF244321}">
                <p14:modId xmlns:p14="http://schemas.microsoft.com/office/powerpoint/2010/main" val="888970181"/>
              </p:ext>
            </p:extLst>
          </p:nvPr>
        </p:nvGraphicFramePr>
        <p:xfrm>
          <a:off x="721785" y="1906970"/>
          <a:ext cx="9842770" cy="4295893"/>
        </p:xfrm>
        <a:graphic>
          <a:graphicData uri="http://schemas.openxmlformats.org/drawingml/2006/table">
            <a:tbl>
              <a:tblPr firstRow="1" firstCol="1" bandRow="1">
                <a:tableStyleId>{5C22544A-7EE6-4342-B048-85BDC9FD1C3A}</a:tableStyleId>
              </a:tblPr>
              <a:tblGrid>
                <a:gridCol w="3797681">
                  <a:extLst>
                    <a:ext uri="{9D8B030D-6E8A-4147-A177-3AD203B41FA5}">
                      <a16:colId xmlns:a16="http://schemas.microsoft.com/office/drawing/2014/main" val="841151965"/>
                    </a:ext>
                  </a:extLst>
                </a:gridCol>
                <a:gridCol w="6045089">
                  <a:extLst>
                    <a:ext uri="{9D8B030D-6E8A-4147-A177-3AD203B41FA5}">
                      <a16:colId xmlns:a16="http://schemas.microsoft.com/office/drawing/2014/main" val="2921325883"/>
                    </a:ext>
                  </a:extLst>
                </a:gridCol>
              </a:tblGrid>
              <a:tr h="605687">
                <a:tc>
                  <a:txBody>
                    <a:bodyPr/>
                    <a:lstStyle/>
                    <a:p>
                      <a:pPr>
                        <a:lnSpc>
                          <a:spcPct val="107000"/>
                        </a:lnSpc>
                        <a:spcAft>
                          <a:spcPts val="0"/>
                        </a:spcAft>
                      </a:pPr>
                      <a:r>
                        <a:rPr lang="en-US" sz="1100" dirty="0">
                          <a:effectLst/>
                        </a:rPr>
                        <a:t>Name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Functions: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69373483"/>
                  </a:ext>
                </a:extLst>
              </a:tr>
              <a:tr h="1239416">
                <a:tc>
                  <a:txBody>
                    <a:bodyPr/>
                    <a:lstStyle/>
                    <a:p>
                      <a:pPr>
                        <a:lnSpc>
                          <a:spcPct val="107000"/>
                        </a:lnSpc>
                        <a:spcAft>
                          <a:spcPts val="0"/>
                        </a:spcAft>
                      </a:pPr>
                      <a:r>
                        <a:rPr lang="en-US" sz="1100">
                          <a:effectLst/>
                        </a:rPr>
                        <a:t>MainWindow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__init__, game_window, history_window, wordlist_window, game_information, get_wordlist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48738867"/>
                  </a:ext>
                </a:extLst>
              </a:tr>
              <a:tr h="605687">
                <a:tc>
                  <a:txBody>
                    <a:bodyPr/>
                    <a:lstStyle/>
                    <a:p>
                      <a:pPr>
                        <a:lnSpc>
                          <a:spcPct val="107000"/>
                        </a:lnSpc>
                        <a:spcAft>
                          <a:spcPts val="0"/>
                        </a:spcAft>
                      </a:pPr>
                      <a:r>
                        <a:rPr lang="en-US" sz="1100">
                          <a:effectLst/>
                        </a:rPr>
                        <a:t>GameWindow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__init__, main_window, get_phrase, get_letters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0698241"/>
                  </a:ext>
                </a:extLst>
              </a:tr>
              <a:tr h="1239416">
                <a:tc>
                  <a:txBody>
                    <a:bodyPr/>
                    <a:lstStyle/>
                    <a:p>
                      <a:pPr>
                        <a:lnSpc>
                          <a:spcPct val="107000"/>
                        </a:lnSpc>
                        <a:spcAft>
                          <a:spcPts val="0"/>
                        </a:spcAft>
                      </a:pPr>
                      <a:r>
                        <a:rPr lang="en-US" sz="1100">
                          <a:effectLst/>
                        </a:rPr>
                        <a:t>HistoryWindow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__</a:t>
                      </a:r>
                      <a:r>
                        <a:rPr lang="en-US" sz="1100" dirty="0" err="1">
                          <a:effectLst/>
                        </a:rPr>
                        <a:t>init</a:t>
                      </a:r>
                      <a:r>
                        <a:rPr lang="en-US" sz="1100" dirty="0">
                          <a:effectLst/>
                        </a:rPr>
                        <a:t>__, </a:t>
                      </a:r>
                      <a:r>
                        <a:rPr lang="en-US" sz="1100" dirty="0" err="1">
                          <a:effectLst/>
                        </a:rPr>
                        <a:t>export_scores</a:t>
                      </a:r>
                      <a:r>
                        <a:rPr lang="en-US" sz="1100" dirty="0">
                          <a:effectLst/>
                        </a:rPr>
                        <a:t>, </a:t>
                      </a:r>
                      <a:r>
                        <a:rPr lang="en-US" sz="1100" dirty="0" err="1">
                          <a:effectLst/>
                        </a:rPr>
                        <a:t>get_victory</a:t>
                      </a:r>
                      <a:r>
                        <a:rPr lang="en-US" sz="1100" dirty="0">
                          <a:effectLst/>
                        </a:rPr>
                        <a:t>, </a:t>
                      </a:r>
                      <a:r>
                        <a:rPr lang="en-US" sz="1100" dirty="0" err="1">
                          <a:effectLst/>
                        </a:rPr>
                        <a:t>get_winloss</a:t>
                      </a:r>
                      <a:r>
                        <a:rPr lang="en-US" sz="1100" dirty="0">
                          <a:effectLst/>
                        </a:rPr>
                        <a:t>, </a:t>
                      </a:r>
                      <a:r>
                        <a:rPr lang="en-US" sz="1100" dirty="0" err="1">
                          <a:effectLst/>
                        </a:rPr>
                        <a:t>get_guesses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615622"/>
                  </a:ext>
                </a:extLst>
              </a:tr>
              <a:tr h="605687">
                <a:tc>
                  <a:txBody>
                    <a:bodyPr/>
                    <a:lstStyle/>
                    <a:p>
                      <a:pPr>
                        <a:lnSpc>
                          <a:spcPct val="107000"/>
                        </a:lnSpc>
                        <a:spcAft>
                          <a:spcPts val="0"/>
                        </a:spcAft>
                      </a:pPr>
                      <a:r>
                        <a:rPr lang="en-US" sz="1100">
                          <a:effectLst/>
                        </a:rPr>
                        <a:t>WordlistWindow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__init__, import_wordlist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5848847"/>
                  </a:ext>
                </a:extLst>
              </a:tr>
            </a:tbl>
          </a:graphicData>
        </a:graphic>
      </p:graphicFrame>
      <p:sp>
        <p:nvSpPr>
          <p:cNvPr id="5" name="Rectangle 1">
            <a:extLst>
              <a:ext uri="{FF2B5EF4-FFF2-40B4-BE49-F238E27FC236}">
                <a16:creationId xmlns:a16="http://schemas.microsoft.com/office/drawing/2014/main" id="{E0071050-857F-4B72-8C77-03E7CB1F2353}"/>
              </a:ext>
            </a:extLst>
          </p:cNvPr>
          <p:cNvSpPr>
            <a:spLocks noChangeArrowheads="1"/>
          </p:cNvSpPr>
          <p:nvPr/>
        </p:nvSpPr>
        <p:spPr bwMode="auto">
          <a:xfrm>
            <a:off x="721785" y="1690688"/>
            <a:ext cx="2340034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none are private.</a:t>
            </a:r>
            <a:r>
              <a:rPr kumimoji="0" lang="en-US" altLang="en-US"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4807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6A0B5-7BC9-4E18-B753-47F62F8D4C69}"/>
              </a:ext>
            </a:extLst>
          </p:cNvPr>
          <p:cNvSpPr>
            <a:spLocks noGrp="1"/>
          </p:cNvSpPr>
          <p:nvPr>
            <p:ph type="title"/>
          </p:nvPr>
        </p:nvSpPr>
        <p:spPr>
          <a:xfrm>
            <a:off x="838200" y="0"/>
            <a:ext cx="10515600" cy="688157"/>
          </a:xfrm>
        </p:spPr>
        <p:txBody>
          <a:bodyPr>
            <a:normAutofit fontScale="90000"/>
          </a:bodyPr>
          <a:lstStyle/>
          <a:p>
            <a:r>
              <a:rPr lang="en-US" dirty="0"/>
              <a:t>Functions and Variables</a:t>
            </a:r>
          </a:p>
        </p:txBody>
      </p:sp>
      <p:graphicFrame>
        <p:nvGraphicFramePr>
          <p:cNvPr id="7" name="Table 6">
            <a:extLst>
              <a:ext uri="{FF2B5EF4-FFF2-40B4-BE49-F238E27FC236}">
                <a16:creationId xmlns:a16="http://schemas.microsoft.com/office/drawing/2014/main" id="{CF2AFBEF-5BF9-44FC-BC3A-9158D4D82D42}"/>
              </a:ext>
            </a:extLst>
          </p:cNvPr>
          <p:cNvGraphicFramePr>
            <a:graphicFrameLocks noGrp="1"/>
          </p:cNvGraphicFramePr>
          <p:nvPr>
            <p:extLst>
              <p:ext uri="{D42A27DB-BD31-4B8C-83A1-F6EECF244321}">
                <p14:modId xmlns:p14="http://schemas.microsoft.com/office/powerpoint/2010/main" val="1886717599"/>
              </p:ext>
            </p:extLst>
          </p:nvPr>
        </p:nvGraphicFramePr>
        <p:xfrm>
          <a:off x="838200" y="798325"/>
          <a:ext cx="9784403" cy="5653195"/>
        </p:xfrm>
        <a:graphic>
          <a:graphicData uri="http://schemas.openxmlformats.org/drawingml/2006/table">
            <a:tbl>
              <a:tblPr firstRow="1" firstCol="1" bandRow="1">
                <a:tableStyleId>{5C22544A-7EE6-4342-B048-85BDC9FD1C3A}</a:tableStyleId>
              </a:tblPr>
              <a:tblGrid>
                <a:gridCol w="2068853">
                  <a:extLst>
                    <a:ext uri="{9D8B030D-6E8A-4147-A177-3AD203B41FA5}">
                      <a16:colId xmlns:a16="http://schemas.microsoft.com/office/drawing/2014/main" val="3968815570"/>
                    </a:ext>
                  </a:extLst>
                </a:gridCol>
                <a:gridCol w="1931764">
                  <a:extLst>
                    <a:ext uri="{9D8B030D-6E8A-4147-A177-3AD203B41FA5}">
                      <a16:colId xmlns:a16="http://schemas.microsoft.com/office/drawing/2014/main" val="3135105391"/>
                    </a:ext>
                  </a:extLst>
                </a:gridCol>
                <a:gridCol w="1334237">
                  <a:extLst>
                    <a:ext uri="{9D8B030D-6E8A-4147-A177-3AD203B41FA5}">
                      <a16:colId xmlns:a16="http://schemas.microsoft.com/office/drawing/2014/main" val="2244952276"/>
                    </a:ext>
                  </a:extLst>
                </a:gridCol>
                <a:gridCol w="1926534">
                  <a:extLst>
                    <a:ext uri="{9D8B030D-6E8A-4147-A177-3AD203B41FA5}">
                      <a16:colId xmlns:a16="http://schemas.microsoft.com/office/drawing/2014/main" val="3929847651"/>
                    </a:ext>
                  </a:extLst>
                </a:gridCol>
                <a:gridCol w="2523015">
                  <a:extLst>
                    <a:ext uri="{9D8B030D-6E8A-4147-A177-3AD203B41FA5}">
                      <a16:colId xmlns:a16="http://schemas.microsoft.com/office/drawing/2014/main" val="2820052149"/>
                    </a:ext>
                  </a:extLst>
                </a:gridCol>
              </a:tblGrid>
              <a:tr h="368048">
                <a:tc>
                  <a:txBody>
                    <a:bodyPr/>
                    <a:lstStyle/>
                    <a:p>
                      <a:pPr>
                        <a:lnSpc>
                          <a:spcPct val="107000"/>
                        </a:lnSpc>
                        <a:spcAft>
                          <a:spcPts val="0"/>
                        </a:spcAft>
                      </a:pPr>
                      <a:r>
                        <a:rPr lang="en-US" sz="900">
                          <a:effectLst/>
                        </a:rPr>
                        <a:t>Name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dirty="0">
                          <a:effectLst/>
                        </a:rPr>
                        <a:t>Class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Type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Purpose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dirty="0">
                          <a:effectLst/>
                        </a:rPr>
                        <a:t>Variables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extLst>
                  <a:ext uri="{0D108BD9-81ED-4DB2-BD59-A6C34878D82A}">
                    <a16:rowId xmlns:a16="http://schemas.microsoft.com/office/drawing/2014/main" val="4088452471"/>
                  </a:ext>
                </a:extLst>
              </a:tr>
              <a:tr h="694109">
                <a:tc>
                  <a:txBody>
                    <a:bodyPr/>
                    <a:lstStyle/>
                    <a:p>
                      <a:pPr>
                        <a:lnSpc>
                          <a:spcPct val="107000"/>
                        </a:lnSpc>
                        <a:spcAft>
                          <a:spcPts val="0"/>
                        </a:spcAft>
                      </a:pPr>
                      <a:r>
                        <a:rPr lang="en-US" sz="900">
                          <a:effectLst/>
                        </a:rPr>
                        <a:t>export_scores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dirty="0">
                          <a:effectLst/>
                        </a:rPr>
                        <a:t>HistoryWindow</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Definition</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Take all the statistics for the session and export them into a file.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line – all the stats for a game will be on one line.</a:t>
                      </a:r>
                    </a:p>
                    <a:p>
                      <a:pPr>
                        <a:lnSpc>
                          <a:spcPct val="107000"/>
                        </a:lnSpc>
                        <a:spcAft>
                          <a:spcPts val="0"/>
                        </a:spcAft>
                      </a:pPr>
                      <a:r>
                        <a:rPr lang="en-US" sz="900">
                          <a:effectLst/>
                        </a:rPr>
                        <a:t>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extLst>
                  <a:ext uri="{0D108BD9-81ED-4DB2-BD59-A6C34878D82A}">
                    <a16:rowId xmlns:a16="http://schemas.microsoft.com/office/drawing/2014/main" val="2027624307"/>
                  </a:ext>
                </a:extLst>
              </a:tr>
              <a:tr h="834172">
                <a:tc>
                  <a:txBody>
                    <a:bodyPr/>
                    <a:lstStyle/>
                    <a:p>
                      <a:pPr>
                        <a:lnSpc>
                          <a:spcPct val="107000"/>
                        </a:lnSpc>
                        <a:spcAft>
                          <a:spcPts val="0"/>
                        </a:spcAft>
                      </a:pPr>
                      <a:r>
                        <a:rPr lang="en-US" sz="900">
                          <a:effectLst/>
                        </a:rPr>
                        <a:t>import_wordlist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WordlistWindow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Definition</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Imports a list of phrases to be used when randomly selecting a phrase for the game.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wordlist – the current wordlist for the game.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extLst>
                  <a:ext uri="{0D108BD9-81ED-4DB2-BD59-A6C34878D82A}">
                    <a16:rowId xmlns:a16="http://schemas.microsoft.com/office/drawing/2014/main" val="1014112317"/>
                  </a:ext>
                </a:extLst>
              </a:tr>
              <a:tr h="694109">
                <a:tc>
                  <a:txBody>
                    <a:bodyPr/>
                    <a:lstStyle/>
                    <a:p>
                      <a:pPr>
                        <a:lnSpc>
                          <a:spcPct val="107000"/>
                        </a:lnSpc>
                        <a:spcAft>
                          <a:spcPts val="0"/>
                        </a:spcAft>
                      </a:pPr>
                      <a:r>
                        <a:rPr lang="en-US" sz="900">
                          <a:effectLst/>
                        </a:rPr>
                        <a:t>main_window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GameWindow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Definition</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Re-opens the main window and closes the game window when the game ends.</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game_frame – will be destroyed when this function is called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extLst>
                  <a:ext uri="{0D108BD9-81ED-4DB2-BD59-A6C34878D82A}">
                    <a16:rowId xmlns:a16="http://schemas.microsoft.com/office/drawing/2014/main" val="848687203"/>
                  </a:ext>
                </a:extLst>
              </a:tr>
              <a:tr h="694109">
                <a:tc>
                  <a:txBody>
                    <a:bodyPr/>
                    <a:lstStyle/>
                    <a:p>
                      <a:pPr>
                        <a:lnSpc>
                          <a:spcPct val="107000"/>
                        </a:lnSpc>
                        <a:spcAft>
                          <a:spcPts val="0"/>
                        </a:spcAft>
                      </a:pPr>
                      <a:r>
                        <a:rPr lang="en-US" sz="900">
                          <a:effectLst/>
                        </a:rPr>
                        <a:t>game_window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MainWindow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Definition</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Closes the main window and opens the game window when a game is started.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main_frame – will be destroyed when this function is called.</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extLst>
                  <a:ext uri="{0D108BD9-81ED-4DB2-BD59-A6C34878D82A}">
                    <a16:rowId xmlns:a16="http://schemas.microsoft.com/office/drawing/2014/main" val="3653000244"/>
                  </a:ext>
                </a:extLst>
              </a:tr>
              <a:tr h="1814600">
                <a:tc>
                  <a:txBody>
                    <a:bodyPr/>
                    <a:lstStyle/>
                    <a:p>
                      <a:pPr>
                        <a:lnSpc>
                          <a:spcPct val="107000"/>
                        </a:lnSpc>
                        <a:spcAft>
                          <a:spcPts val="0"/>
                        </a:spcAft>
                      </a:pPr>
                      <a:r>
                        <a:rPr lang="en-US" sz="900">
                          <a:effectLst/>
                        </a:rPr>
                        <a:t>history_window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MainWindow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Definition</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Opens the history window for all the game statistics. </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winLoss – used to send the win/loss ratio to the history window</a:t>
                      </a:r>
                    </a:p>
                    <a:p>
                      <a:pPr>
                        <a:lnSpc>
                          <a:spcPct val="107000"/>
                        </a:lnSpc>
                        <a:spcAft>
                          <a:spcPts val="0"/>
                        </a:spcAft>
                      </a:pPr>
                      <a:r>
                        <a:rPr lang="en-US" sz="900">
                          <a:effectLst/>
                        </a:rPr>
                        <a:t>victory – used to send the victory bool to the history window</a:t>
                      </a:r>
                    </a:p>
                    <a:p>
                      <a:pPr>
                        <a:lnSpc>
                          <a:spcPct val="107000"/>
                        </a:lnSpc>
                        <a:spcAft>
                          <a:spcPts val="0"/>
                        </a:spcAft>
                      </a:pPr>
                      <a:r>
                        <a:rPr lang="en-US" sz="900">
                          <a:effectLst/>
                        </a:rPr>
                        <a:t>phrase – used to send the phrase to the history window</a:t>
                      </a:r>
                    </a:p>
                    <a:p>
                      <a:pPr>
                        <a:lnSpc>
                          <a:spcPct val="107000"/>
                        </a:lnSpc>
                        <a:spcAft>
                          <a:spcPts val="0"/>
                        </a:spcAft>
                      </a:pPr>
                      <a:r>
                        <a:rPr lang="en-US" sz="900">
                          <a:effectLst/>
                        </a:rPr>
                        <a:t>guesses ­– used to send the number of guesses taken to the history 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extLst>
                  <a:ext uri="{0D108BD9-81ED-4DB2-BD59-A6C34878D82A}">
                    <a16:rowId xmlns:a16="http://schemas.microsoft.com/office/drawing/2014/main" val="3356593304"/>
                  </a:ext>
                </a:extLst>
              </a:tr>
              <a:tr h="554048">
                <a:tc>
                  <a:txBody>
                    <a:bodyPr/>
                    <a:lstStyle/>
                    <a:p>
                      <a:pPr>
                        <a:lnSpc>
                          <a:spcPct val="107000"/>
                        </a:lnSpc>
                        <a:spcAft>
                          <a:spcPts val="0"/>
                        </a:spcAft>
                      </a:pPr>
                      <a:r>
                        <a:rPr lang="en-US" sz="900">
                          <a:effectLst/>
                        </a:rPr>
                        <a:t>wordlist_window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MainWindow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Definition</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a:effectLst/>
                        </a:rPr>
                        <a:t>Calls the WordlistWindow class to open the wordlist window</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tc>
                  <a:txBody>
                    <a:bodyPr/>
                    <a:lstStyle/>
                    <a:p>
                      <a:pPr>
                        <a:lnSpc>
                          <a:spcPct val="107000"/>
                        </a:lnSpc>
                        <a:spcAft>
                          <a:spcPts val="0"/>
                        </a:spcAft>
                      </a:pPr>
                      <a:r>
                        <a:rPr lang="en-US" sz="900" dirty="0">
                          <a:effectLst/>
                        </a:rPr>
                        <a:t>None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53545" marR="53545" marT="0" marB="0"/>
                </a:tc>
                <a:extLst>
                  <a:ext uri="{0D108BD9-81ED-4DB2-BD59-A6C34878D82A}">
                    <a16:rowId xmlns:a16="http://schemas.microsoft.com/office/drawing/2014/main" val="3606962227"/>
                  </a:ext>
                </a:extLst>
              </a:tr>
            </a:tbl>
          </a:graphicData>
        </a:graphic>
      </p:graphicFrame>
    </p:spTree>
    <p:extLst>
      <p:ext uri="{BB962C8B-B14F-4D97-AF65-F5344CB8AC3E}">
        <p14:creationId xmlns:p14="http://schemas.microsoft.com/office/powerpoint/2010/main" val="328080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1BB830A-809D-4532-82BF-70401F885A30}"/>
              </a:ext>
            </a:extLst>
          </p:cNvPr>
          <p:cNvGraphicFramePr>
            <a:graphicFrameLocks noGrp="1"/>
          </p:cNvGraphicFramePr>
          <p:nvPr>
            <p:extLst>
              <p:ext uri="{D42A27DB-BD31-4B8C-83A1-F6EECF244321}">
                <p14:modId xmlns:p14="http://schemas.microsoft.com/office/powerpoint/2010/main" val="3934663194"/>
              </p:ext>
            </p:extLst>
          </p:nvPr>
        </p:nvGraphicFramePr>
        <p:xfrm>
          <a:off x="-1" y="-1"/>
          <a:ext cx="11943762" cy="6551773"/>
        </p:xfrm>
        <a:graphic>
          <a:graphicData uri="http://schemas.openxmlformats.org/drawingml/2006/table">
            <a:tbl>
              <a:tblPr firstRow="1" firstCol="1" bandRow="1">
                <a:tableStyleId>{5C22544A-7EE6-4342-B048-85BDC9FD1C3A}</a:tableStyleId>
              </a:tblPr>
              <a:tblGrid>
                <a:gridCol w="1246773">
                  <a:extLst>
                    <a:ext uri="{9D8B030D-6E8A-4147-A177-3AD203B41FA5}">
                      <a16:colId xmlns:a16="http://schemas.microsoft.com/office/drawing/2014/main" val="3848015485"/>
                    </a:ext>
                  </a:extLst>
                </a:gridCol>
                <a:gridCol w="1256590">
                  <a:extLst>
                    <a:ext uri="{9D8B030D-6E8A-4147-A177-3AD203B41FA5}">
                      <a16:colId xmlns:a16="http://schemas.microsoft.com/office/drawing/2014/main" val="2267339990"/>
                    </a:ext>
                  </a:extLst>
                </a:gridCol>
                <a:gridCol w="1256590">
                  <a:extLst>
                    <a:ext uri="{9D8B030D-6E8A-4147-A177-3AD203B41FA5}">
                      <a16:colId xmlns:a16="http://schemas.microsoft.com/office/drawing/2014/main" val="926505921"/>
                    </a:ext>
                  </a:extLst>
                </a:gridCol>
                <a:gridCol w="1580553">
                  <a:extLst>
                    <a:ext uri="{9D8B030D-6E8A-4147-A177-3AD203B41FA5}">
                      <a16:colId xmlns:a16="http://schemas.microsoft.com/office/drawing/2014/main" val="1866013778"/>
                    </a:ext>
                  </a:extLst>
                </a:gridCol>
                <a:gridCol w="6603256">
                  <a:extLst>
                    <a:ext uri="{9D8B030D-6E8A-4147-A177-3AD203B41FA5}">
                      <a16:colId xmlns:a16="http://schemas.microsoft.com/office/drawing/2014/main" val="1447098621"/>
                    </a:ext>
                  </a:extLst>
                </a:gridCol>
              </a:tblGrid>
              <a:tr h="701305">
                <a:tc>
                  <a:txBody>
                    <a:bodyPr/>
                    <a:lstStyle/>
                    <a:p>
                      <a:pPr>
                        <a:lnSpc>
                          <a:spcPct val="107000"/>
                        </a:lnSpc>
                        <a:spcAft>
                          <a:spcPts val="0"/>
                        </a:spcAft>
                      </a:pPr>
                      <a:r>
                        <a:rPr lang="en-US" sz="900" dirty="0"/>
                        <a:t>game_information</a:t>
                      </a:r>
                    </a:p>
                  </a:txBody>
                  <a:tcPr marL="16507" marR="16507" marT="0" marB="0"/>
                </a:tc>
                <a:tc>
                  <a:txBody>
                    <a:bodyPr/>
                    <a:lstStyle/>
                    <a:p>
                      <a:pPr>
                        <a:lnSpc>
                          <a:spcPct val="107000"/>
                        </a:lnSpc>
                        <a:spcAft>
                          <a:spcPts val="0"/>
                        </a:spcAft>
                      </a:pPr>
                      <a:r>
                        <a:rPr lang="en-US" sz="900" dirty="0"/>
                        <a:t>MainWindow</a:t>
                      </a:r>
                    </a:p>
                  </a:txBody>
                  <a:tcPr marL="16507" marR="16507" marT="0" marB="0"/>
                </a:tc>
                <a:tc>
                  <a:txBody>
                    <a:bodyPr/>
                    <a:lstStyle/>
                    <a:p>
                      <a:pPr>
                        <a:lnSpc>
                          <a:spcPct val="107000"/>
                        </a:lnSpc>
                        <a:spcAft>
                          <a:spcPts val="0"/>
                        </a:spcAft>
                      </a:pPr>
                      <a:r>
                        <a:rPr lang="en-US" sz="900"/>
                        <a:t>Definition</a:t>
                      </a:r>
                    </a:p>
                  </a:txBody>
                  <a:tcPr marL="16507" marR="16507" marT="0" marB="0"/>
                </a:tc>
                <a:tc>
                  <a:txBody>
                    <a:bodyPr/>
                    <a:lstStyle/>
                    <a:p>
                      <a:pPr>
                        <a:lnSpc>
                          <a:spcPct val="107000"/>
                        </a:lnSpc>
                        <a:spcAft>
                          <a:spcPts val="0"/>
                        </a:spcAft>
                      </a:pPr>
                      <a:r>
                        <a:rPr lang="en-US" sz="900" dirty="0"/>
                        <a:t>Selects a word or uses the one entered by the player, creates lists for the letters.</a:t>
                      </a:r>
                    </a:p>
                  </a:txBody>
                  <a:tcPr marL="16507" marR="16507" marT="0" marB="0"/>
                </a:tc>
                <a:tc>
                  <a:txBody>
                    <a:bodyPr/>
                    <a:lstStyle/>
                    <a:p>
                      <a:pPr>
                        <a:lnSpc>
                          <a:spcPct val="107000"/>
                        </a:lnSpc>
                        <a:spcAft>
                          <a:spcPts val="0"/>
                        </a:spcAft>
                      </a:pPr>
                      <a:r>
                        <a:rPr lang="en-US" sz="1200" dirty="0"/>
                        <a:t>wordlist – list containing phrases to be used in the game</a:t>
                      </a:r>
                    </a:p>
                    <a:p>
                      <a:pPr>
                        <a:lnSpc>
                          <a:spcPct val="107000"/>
                        </a:lnSpc>
                        <a:spcAft>
                          <a:spcPts val="0"/>
                        </a:spcAft>
                      </a:pPr>
                      <a:r>
                        <a:rPr lang="en-US" sz="1200" dirty="0"/>
                        <a:t>phrase – defined in this function as a random item in the wordlist, or as the entry from the user.</a:t>
                      </a:r>
                    </a:p>
                    <a:p>
                      <a:pPr>
                        <a:lnSpc>
                          <a:spcPct val="107000"/>
                        </a:lnSpc>
                        <a:spcAft>
                          <a:spcPts val="0"/>
                        </a:spcAft>
                      </a:pPr>
                      <a:r>
                        <a:rPr lang="en-US" sz="1200" dirty="0"/>
                        <a:t>letters – list of character in the phrase variable </a:t>
                      </a:r>
                    </a:p>
                  </a:txBody>
                  <a:tcPr marL="16507" marR="16507" marT="0" marB="0"/>
                </a:tc>
                <a:extLst>
                  <a:ext uri="{0D108BD9-81ED-4DB2-BD59-A6C34878D82A}">
                    <a16:rowId xmlns:a16="http://schemas.microsoft.com/office/drawing/2014/main" val="1403492488"/>
                  </a:ext>
                </a:extLst>
              </a:tr>
              <a:tr h="1815805">
                <a:tc>
                  <a:txBody>
                    <a:bodyPr/>
                    <a:lstStyle/>
                    <a:p>
                      <a:pPr>
                        <a:lnSpc>
                          <a:spcPct val="107000"/>
                        </a:lnSpc>
                        <a:spcAft>
                          <a:spcPts val="0"/>
                        </a:spcAft>
                      </a:pPr>
                      <a:r>
                        <a:rPr lang="en-US" sz="900" dirty="0"/>
                        <a:t>init__</a:t>
                      </a:r>
                    </a:p>
                  </a:txBody>
                  <a:tcPr marL="16507" marR="16507" marT="0" marB="0"/>
                </a:tc>
                <a:tc>
                  <a:txBody>
                    <a:bodyPr/>
                    <a:lstStyle/>
                    <a:p>
                      <a:pPr>
                        <a:lnSpc>
                          <a:spcPct val="107000"/>
                        </a:lnSpc>
                        <a:spcAft>
                          <a:spcPts val="0"/>
                        </a:spcAft>
                      </a:pPr>
                      <a:r>
                        <a:rPr lang="en-US" sz="900" dirty="0"/>
                        <a:t>MainWindow</a:t>
                      </a:r>
                    </a:p>
                  </a:txBody>
                  <a:tcPr marL="16507" marR="16507" marT="0" marB="0"/>
                </a:tc>
                <a:tc>
                  <a:txBody>
                    <a:bodyPr/>
                    <a:lstStyle/>
                    <a:p>
                      <a:pPr>
                        <a:lnSpc>
                          <a:spcPct val="107000"/>
                        </a:lnSpc>
                        <a:spcAft>
                          <a:spcPts val="0"/>
                        </a:spcAft>
                      </a:pPr>
                      <a:r>
                        <a:rPr lang="en-US" sz="900" dirty="0"/>
                        <a:t>Definition</a:t>
                      </a:r>
                    </a:p>
                    <a:p>
                      <a:pPr>
                        <a:lnSpc>
                          <a:spcPct val="107000"/>
                        </a:lnSpc>
                        <a:spcAft>
                          <a:spcPts val="0"/>
                        </a:spcAft>
                      </a:pPr>
                      <a:r>
                        <a:rPr lang="en-US" sz="900" dirty="0"/>
                        <a:t>(Initialized)</a:t>
                      </a:r>
                    </a:p>
                  </a:txBody>
                  <a:tcPr marL="16507" marR="16507" marT="0" marB="0"/>
                </a:tc>
                <a:tc>
                  <a:txBody>
                    <a:bodyPr/>
                    <a:lstStyle/>
                    <a:p>
                      <a:pPr>
                        <a:lnSpc>
                          <a:spcPct val="107000"/>
                        </a:lnSpc>
                        <a:spcAft>
                          <a:spcPts val="0"/>
                        </a:spcAft>
                      </a:pPr>
                      <a:r>
                        <a:rPr lang="en-US" sz="900"/>
                        <a:t>Creates all the GUI elements for the main window and sets variables.</a:t>
                      </a:r>
                    </a:p>
                  </a:txBody>
                  <a:tcPr marL="16507" marR="16507" marT="0" marB="0"/>
                </a:tc>
                <a:tc>
                  <a:txBody>
                    <a:bodyPr/>
                    <a:lstStyle/>
                    <a:p>
                      <a:pPr>
                        <a:lnSpc>
                          <a:spcPct val="107000"/>
                        </a:lnSpc>
                        <a:spcAft>
                          <a:spcPts val="0"/>
                        </a:spcAft>
                      </a:pPr>
                      <a:r>
                        <a:rPr lang="en-US" sz="1200"/>
                        <a:t>main_frame – the from that holds each GUI element</a:t>
                      </a:r>
                    </a:p>
                    <a:p>
                      <a:pPr>
                        <a:lnSpc>
                          <a:spcPct val="107000"/>
                        </a:lnSpc>
                        <a:spcAft>
                          <a:spcPts val="0"/>
                        </a:spcAft>
                      </a:pPr>
                      <a:r>
                        <a:rPr lang="en-US" sz="1200"/>
                        <a:t>heading_label – hangman heading text</a:t>
                      </a:r>
                    </a:p>
                    <a:p>
                      <a:pPr>
                        <a:lnSpc>
                          <a:spcPct val="107000"/>
                        </a:lnSpc>
                        <a:spcAft>
                          <a:spcPts val="0"/>
                        </a:spcAft>
                      </a:pPr>
                      <a:r>
                        <a:rPr lang="en-US" sz="1200"/>
                        <a:t>instruction_label – user instructions text</a:t>
                      </a:r>
                    </a:p>
                    <a:p>
                      <a:pPr>
                        <a:lnSpc>
                          <a:spcPct val="107000"/>
                        </a:lnSpc>
                        <a:spcAft>
                          <a:spcPts val="0"/>
                        </a:spcAft>
                      </a:pPr>
                      <a:r>
                        <a:rPr lang="en-US" sz="1200"/>
                        <a:t>wordlist_button – button to call the wordlist_window function</a:t>
                      </a:r>
                    </a:p>
                    <a:p>
                      <a:pPr>
                        <a:lnSpc>
                          <a:spcPct val="107000"/>
                        </a:lnSpc>
                        <a:spcAft>
                          <a:spcPts val="0"/>
                        </a:spcAft>
                      </a:pPr>
                      <a:r>
                        <a:rPr lang="en-US" sz="1200"/>
                        <a:t>history_button- button used to call the history_window function</a:t>
                      </a:r>
                    </a:p>
                    <a:p>
                      <a:pPr>
                        <a:lnSpc>
                          <a:spcPct val="107000"/>
                        </a:lnSpc>
                        <a:spcAft>
                          <a:spcPts val="0"/>
                        </a:spcAft>
                      </a:pPr>
                      <a:r>
                        <a:rPr lang="en-US" sz="1200"/>
                        <a:t>random_button – calls the game_information function with a bool of ‘false’</a:t>
                      </a:r>
                    </a:p>
                    <a:p>
                      <a:pPr>
                        <a:lnSpc>
                          <a:spcPct val="107000"/>
                        </a:lnSpc>
                        <a:spcAft>
                          <a:spcPts val="0"/>
                        </a:spcAft>
                      </a:pPr>
                      <a:r>
                        <a:rPr lang="en-US" sz="1200"/>
                        <a:t>chosen_button – calls the game_information function with a bool of ‘true’</a:t>
                      </a:r>
                    </a:p>
                    <a:p>
                      <a:pPr>
                        <a:lnSpc>
                          <a:spcPct val="107000"/>
                        </a:lnSpc>
                        <a:spcAft>
                          <a:spcPts val="0"/>
                        </a:spcAft>
                      </a:pPr>
                      <a:r>
                        <a:rPr lang="en-US" sz="1200"/>
                        <a:t>quit_button – calls the quit function to close the GUI and stop the program</a:t>
                      </a:r>
                    </a:p>
                    <a:p>
                      <a:pPr>
                        <a:lnSpc>
                          <a:spcPct val="107000"/>
                        </a:lnSpc>
                        <a:spcAft>
                          <a:spcPts val="0"/>
                        </a:spcAft>
                      </a:pPr>
                      <a:r>
                        <a:rPr lang="en-US" sz="1200"/>
                        <a:t> </a:t>
                      </a:r>
                    </a:p>
                  </a:txBody>
                  <a:tcPr marL="16507" marR="16507" marT="0" marB="0"/>
                </a:tc>
                <a:extLst>
                  <a:ext uri="{0D108BD9-81ED-4DB2-BD59-A6C34878D82A}">
                    <a16:rowId xmlns:a16="http://schemas.microsoft.com/office/drawing/2014/main" val="3470422178"/>
                  </a:ext>
                </a:extLst>
              </a:tr>
              <a:tr h="1170568">
                <a:tc>
                  <a:txBody>
                    <a:bodyPr/>
                    <a:lstStyle/>
                    <a:p>
                      <a:pPr>
                        <a:lnSpc>
                          <a:spcPct val="107000"/>
                        </a:lnSpc>
                        <a:spcAft>
                          <a:spcPts val="0"/>
                        </a:spcAft>
                      </a:pPr>
                      <a:r>
                        <a:rPr lang="en-US" sz="900"/>
                        <a:t>init__</a:t>
                      </a:r>
                    </a:p>
                  </a:txBody>
                  <a:tcPr marL="16507" marR="16507" marT="0" marB="0"/>
                </a:tc>
                <a:tc>
                  <a:txBody>
                    <a:bodyPr/>
                    <a:lstStyle/>
                    <a:p>
                      <a:pPr>
                        <a:lnSpc>
                          <a:spcPct val="107000"/>
                        </a:lnSpc>
                        <a:spcAft>
                          <a:spcPts val="0"/>
                        </a:spcAft>
                      </a:pPr>
                      <a:r>
                        <a:rPr lang="en-US" sz="900"/>
                        <a:t>GameWindow</a:t>
                      </a:r>
                    </a:p>
                  </a:txBody>
                  <a:tcPr marL="16507" marR="16507" marT="0" marB="0"/>
                </a:tc>
                <a:tc>
                  <a:txBody>
                    <a:bodyPr/>
                    <a:lstStyle/>
                    <a:p>
                      <a:pPr>
                        <a:lnSpc>
                          <a:spcPct val="107000"/>
                        </a:lnSpc>
                        <a:spcAft>
                          <a:spcPts val="0"/>
                        </a:spcAft>
                      </a:pPr>
                      <a:r>
                        <a:rPr lang="en-US" sz="900" dirty="0"/>
                        <a:t>Definition</a:t>
                      </a:r>
                    </a:p>
                    <a:p>
                      <a:pPr>
                        <a:lnSpc>
                          <a:spcPct val="107000"/>
                        </a:lnSpc>
                        <a:spcAft>
                          <a:spcPts val="0"/>
                        </a:spcAft>
                      </a:pPr>
                      <a:r>
                        <a:rPr lang="en-US" sz="900" dirty="0"/>
                        <a:t>(Initialized)</a:t>
                      </a:r>
                    </a:p>
                  </a:txBody>
                  <a:tcPr marL="16507" marR="16507" marT="0" marB="0"/>
                </a:tc>
                <a:tc>
                  <a:txBody>
                    <a:bodyPr/>
                    <a:lstStyle/>
                    <a:p>
                      <a:pPr>
                        <a:lnSpc>
                          <a:spcPct val="107000"/>
                        </a:lnSpc>
                        <a:spcAft>
                          <a:spcPts val="0"/>
                        </a:spcAft>
                      </a:pPr>
                      <a:r>
                        <a:rPr lang="en-US" sz="900" dirty="0"/>
                        <a:t>Creates all the GUI elements for the game window and sets variables.</a:t>
                      </a:r>
                    </a:p>
                  </a:txBody>
                  <a:tcPr marL="16507" marR="16507" marT="0" marB="0"/>
                </a:tc>
                <a:tc>
                  <a:txBody>
                    <a:bodyPr/>
                    <a:lstStyle/>
                    <a:p>
                      <a:pPr>
                        <a:lnSpc>
                          <a:spcPct val="107000"/>
                        </a:lnSpc>
                        <a:spcAft>
                          <a:spcPts val="0"/>
                        </a:spcAft>
                      </a:pPr>
                      <a:r>
                        <a:rPr lang="en-US" sz="1200"/>
                        <a:t>game_frame – the frame which holds all the GUI elements for the window </a:t>
                      </a:r>
                    </a:p>
                    <a:p>
                      <a:pPr>
                        <a:lnSpc>
                          <a:spcPct val="107000"/>
                        </a:lnSpc>
                        <a:spcAft>
                          <a:spcPts val="0"/>
                        </a:spcAft>
                      </a:pPr>
                      <a:r>
                        <a:rPr lang="en-US" sz="1200"/>
                        <a:t>(a-z)button – buttons for each letter of the alphabet which</a:t>
                      </a:r>
                    </a:p>
                    <a:p>
                      <a:pPr>
                        <a:lnSpc>
                          <a:spcPct val="107000"/>
                        </a:lnSpc>
                        <a:spcAft>
                          <a:spcPts val="0"/>
                        </a:spcAft>
                      </a:pPr>
                      <a:r>
                        <a:rPr lang="en-US" sz="1200"/>
                        <a:t>phrase­_label – label that displays the phrase the user is finding</a:t>
                      </a:r>
                    </a:p>
                    <a:p>
                      <a:pPr>
                        <a:lnSpc>
                          <a:spcPct val="107000"/>
                        </a:lnSpc>
                        <a:spcAft>
                          <a:spcPts val="0"/>
                        </a:spcAft>
                      </a:pPr>
                      <a:r>
                        <a:rPr lang="en-US" sz="1200"/>
                        <a:t>stats_label – label that displays the time taken, guess remaining and used.</a:t>
                      </a:r>
                    </a:p>
                    <a:p>
                      <a:pPr>
                        <a:lnSpc>
                          <a:spcPct val="107000"/>
                        </a:lnSpc>
                        <a:spcAft>
                          <a:spcPts val="0"/>
                        </a:spcAft>
                      </a:pPr>
                      <a:r>
                        <a:rPr lang="en-US" sz="1200"/>
                        <a:t>letters_label – label that displays the letters the player has guessed.</a:t>
                      </a:r>
                    </a:p>
                    <a:p>
                      <a:pPr>
                        <a:lnSpc>
                          <a:spcPct val="107000"/>
                        </a:lnSpc>
                        <a:spcAft>
                          <a:spcPts val="0"/>
                        </a:spcAft>
                      </a:pPr>
                      <a:r>
                        <a:rPr lang="en-US" sz="1200"/>
                        <a:t> </a:t>
                      </a:r>
                    </a:p>
                  </a:txBody>
                  <a:tcPr marL="16507" marR="16507" marT="0" marB="0"/>
                </a:tc>
                <a:extLst>
                  <a:ext uri="{0D108BD9-81ED-4DB2-BD59-A6C34878D82A}">
                    <a16:rowId xmlns:a16="http://schemas.microsoft.com/office/drawing/2014/main" val="1757490289"/>
                  </a:ext>
                </a:extLst>
              </a:tr>
              <a:tr h="1111910">
                <a:tc>
                  <a:txBody>
                    <a:bodyPr/>
                    <a:lstStyle/>
                    <a:p>
                      <a:pPr>
                        <a:lnSpc>
                          <a:spcPct val="107000"/>
                        </a:lnSpc>
                        <a:spcAft>
                          <a:spcPts val="0"/>
                        </a:spcAft>
                      </a:pPr>
                      <a:r>
                        <a:rPr lang="en-US" sz="900"/>
                        <a:t>init__</a:t>
                      </a:r>
                    </a:p>
                  </a:txBody>
                  <a:tcPr marL="16507" marR="16507" marT="0" marB="0"/>
                </a:tc>
                <a:tc>
                  <a:txBody>
                    <a:bodyPr/>
                    <a:lstStyle/>
                    <a:p>
                      <a:pPr>
                        <a:lnSpc>
                          <a:spcPct val="107000"/>
                        </a:lnSpc>
                        <a:spcAft>
                          <a:spcPts val="0"/>
                        </a:spcAft>
                      </a:pPr>
                      <a:r>
                        <a:rPr lang="en-US" sz="900"/>
                        <a:t>WordlistWindow</a:t>
                      </a:r>
                    </a:p>
                  </a:txBody>
                  <a:tcPr marL="16507" marR="16507" marT="0" marB="0"/>
                </a:tc>
                <a:tc>
                  <a:txBody>
                    <a:bodyPr/>
                    <a:lstStyle/>
                    <a:p>
                      <a:pPr>
                        <a:lnSpc>
                          <a:spcPct val="107000"/>
                        </a:lnSpc>
                        <a:spcAft>
                          <a:spcPts val="0"/>
                        </a:spcAft>
                      </a:pPr>
                      <a:r>
                        <a:rPr lang="en-US" sz="900"/>
                        <a:t>Definition</a:t>
                      </a:r>
                    </a:p>
                    <a:p>
                      <a:pPr>
                        <a:lnSpc>
                          <a:spcPct val="107000"/>
                        </a:lnSpc>
                        <a:spcAft>
                          <a:spcPts val="0"/>
                        </a:spcAft>
                      </a:pPr>
                      <a:r>
                        <a:rPr lang="en-US" sz="900"/>
                        <a:t>(Initialized)</a:t>
                      </a:r>
                    </a:p>
                  </a:txBody>
                  <a:tcPr marL="16507" marR="16507" marT="0" marB="0"/>
                </a:tc>
                <a:tc>
                  <a:txBody>
                    <a:bodyPr/>
                    <a:lstStyle/>
                    <a:p>
                      <a:pPr>
                        <a:lnSpc>
                          <a:spcPct val="107000"/>
                        </a:lnSpc>
                        <a:spcAft>
                          <a:spcPts val="0"/>
                        </a:spcAft>
                      </a:pPr>
                      <a:r>
                        <a:rPr lang="en-US" sz="900" dirty="0"/>
                        <a:t>Creates all the GUI elements for the wordlist window and sets variables.</a:t>
                      </a:r>
                    </a:p>
                  </a:txBody>
                  <a:tcPr marL="16507" marR="16507" marT="0" marB="0"/>
                </a:tc>
                <a:tc>
                  <a:txBody>
                    <a:bodyPr/>
                    <a:lstStyle/>
                    <a:p>
                      <a:pPr>
                        <a:lnSpc>
                          <a:spcPct val="107000"/>
                        </a:lnSpc>
                        <a:spcAft>
                          <a:spcPts val="0"/>
                        </a:spcAft>
                      </a:pPr>
                      <a:r>
                        <a:rPr lang="en-US" sz="1200" dirty="0" err="1"/>
                        <a:t>wordlist_frame</a:t>
                      </a:r>
                      <a:r>
                        <a:rPr lang="en-US" sz="1200" dirty="0"/>
                        <a:t> – the frame that holds all the GUI elements for the wordlist window.</a:t>
                      </a:r>
                    </a:p>
                    <a:p>
                      <a:pPr>
                        <a:lnSpc>
                          <a:spcPct val="107000"/>
                        </a:lnSpc>
                        <a:spcAft>
                          <a:spcPts val="0"/>
                        </a:spcAft>
                      </a:pPr>
                      <a:r>
                        <a:rPr lang="en-US" sz="1200" dirty="0" err="1"/>
                        <a:t>import_button</a:t>
                      </a:r>
                      <a:r>
                        <a:rPr lang="en-US" sz="1200" dirty="0"/>
                        <a:t> – button which opens file explorer to select the file to be used.</a:t>
                      </a:r>
                    </a:p>
                    <a:p>
                      <a:pPr>
                        <a:lnSpc>
                          <a:spcPct val="107000"/>
                        </a:lnSpc>
                        <a:spcAft>
                          <a:spcPts val="0"/>
                        </a:spcAft>
                      </a:pPr>
                      <a:r>
                        <a:rPr lang="en-US" sz="1200" dirty="0" err="1"/>
                        <a:t>instructions_label</a:t>
                      </a:r>
                      <a:r>
                        <a:rPr lang="en-US" sz="1200" dirty="0"/>
                        <a:t> – label for the instructions text.</a:t>
                      </a:r>
                    </a:p>
                    <a:p>
                      <a:pPr>
                        <a:lnSpc>
                          <a:spcPct val="107000"/>
                        </a:lnSpc>
                        <a:spcAft>
                          <a:spcPts val="0"/>
                        </a:spcAft>
                      </a:pPr>
                      <a:r>
                        <a:rPr lang="en-US" sz="1200" dirty="0" err="1"/>
                        <a:t>dismiss_button</a:t>
                      </a:r>
                      <a:r>
                        <a:rPr lang="en-US" sz="1200" dirty="0"/>
                        <a:t> – button to close the wordlist window and re-enable the.</a:t>
                      </a:r>
                    </a:p>
                    <a:p>
                      <a:pPr>
                        <a:lnSpc>
                          <a:spcPct val="107000"/>
                        </a:lnSpc>
                        <a:spcAft>
                          <a:spcPts val="0"/>
                        </a:spcAft>
                      </a:pPr>
                      <a:r>
                        <a:rPr lang="en-US" sz="1200" dirty="0"/>
                        <a:t>wordlist – list of all the possible phrases the game can use.</a:t>
                      </a:r>
                    </a:p>
                    <a:p>
                      <a:pPr>
                        <a:lnSpc>
                          <a:spcPct val="107000"/>
                        </a:lnSpc>
                        <a:spcAft>
                          <a:spcPts val="0"/>
                        </a:spcAft>
                      </a:pPr>
                      <a:r>
                        <a:rPr lang="en-US" sz="1200" dirty="0"/>
                        <a:t> </a:t>
                      </a:r>
                    </a:p>
                  </a:txBody>
                  <a:tcPr marL="16507" marR="16507" marT="0" marB="0"/>
                </a:tc>
                <a:extLst>
                  <a:ext uri="{0D108BD9-81ED-4DB2-BD59-A6C34878D82A}">
                    <a16:rowId xmlns:a16="http://schemas.microsoft.com/office/drawing/2014/main" val="1350430300"/>
                  </a:ext>
                </a:extLst>
              </a:tr>
              <a:tr h="1698489">
                <a:tc>
                  <a:txBody>
                    <a:bodyPr/>
                    <a:lstStyle/>
                    <a:p>
                      <a:pPr>
                        <a:lnSpc>
                          <a:spcPct val="107000"/>
                        </a:lnSpc>
                        <a:spcAft>
                          <a:spcPts val="0"/>
                        </a:spcAft>
                      </a:pPr>
                      <a:r>
                        <a:rPr lang="en-US" sz="900"/>
                        <a:t>init__</a:t>
                      </a:r>
                    </a:p>
                  </a:txBody>
                  <a:tcPr marL="16507" marR="16507" marT="0" marB="0"/>
                </a:tc>
                <a:tc>
                  <a:txBody>
                    <a:bodyPr/>
                    <a:lstStyle/>
                    <a:p>
                      <a:pPr>
                        <a:lnSpc>
                          <a:spcPct val="107000"/>
                        </a:lnSpc>
                        <a:spcAft>
                          <a:spcPts val="0"/>
                        </a:spcAft>
                      </a:pPr>
                      <a:r>
                        <a:rPr lang="en-US" sz="900"/>
                        <a:t>HistoryWindow</a:t>
                      </a:r>
                    </a:p>
                  </a:txBody>
                  <a:tcPr marL="16507" marR="16507" marT="0" marB="0"/>
                </a:tc>
                <a:tc>
                  <a:txBody>
                    <a:bodyPr/>
                    <a:lstStyle/>
                    <a:p>
                      <a:pPr>
                        <a:lnSpc>
                          <a:spcPct val="107000"/>
                        </a:lnSpc>
                        <a:spcAft>
                          <a:spcPts val="0"/>
                        </a:spcAft>
                      </a:pPr>
                      <a:r>
                        <a:rPr lang="en-US" sz="900"/>
                        <a:t>Definition</a:t>
                      </a:r>
                    </a:p>
                    <a:p>
                      <a:pPr>
                        <a:lnSpc>
                          <a:spcPct val="107000"/>
                        </a:lnSpc>
                        <a:spcAft>
                          <a:spcPts val="0"/>
                        </a:spcAft>
                      </a:pPr>
                      <a:r>
                        <a:rPr lang="en-US" sz="900"/>
                        <a:t>(Initialized)</a:t>
                      </a:r>
                    </a:p>
                  </a:txBody>
                  <a:tcPr marL="16507" marR="16507" marT="0" marB="0"/>
                </a:tc>
                <a:tc>
                  <a:txBody>
                    <a:bodyPr/>
                    <a:lstStyle/>
                    <a:p>
                      <a:pPr>
                        <a:lnSpc>
                          <a:spcPct val="107000"/>
                        </a:lnSpc>
                        <a:spcAft>
                          <a:spcPts val="0"/>
                        </a:spcAft>
                      </a:pPr>
                      <a:r>
                        <a:rPr lang="en-US" sz="900" dirty="0"/>
                        <a:t>Creates all the GUI elements for the history window and sets variables.</a:t>
                      </a:r>
                    </a:p>
                  </a:txBody>
                  <a:tcPr marL="16507" marR="16507" marT="0" marB="0"/>
                </a:tc>
                <a:tc>
                  <a:txBody>
                    <a:bodyPr/>
                    <a:lstStyle/>
                    <a:p>
                      <a:pPr>
                        <a:lnSpc>
                          <a:spcPct val="107000"/>
                        </a:lnSpc>
                        <a:spcAft>
                          <a:spcPts val="0"/>
                        </a:spcAft>
                      </a:pPr>
                      <a:r>
                        <a:rPr lang="en-US" sz="1200" dirty="0" err="1"/>
                        <a:t>history_frame</a:t>
                      </a:r>
                      <a:r>
                        <a:rPr lang="en-US" sz="1200" dirty="0"/>
                        <a:t>-the frame that hold all of the GUI elements for the history window</a:t>
                      </a:r>
                    </a:p>
                    <a:p>
                      <a:pPr>
                        <a:lnSpc>
                          <a:spcPct val="107000"/>
                        </a:lnSpc>
                        <a:spcAft>
                          <a:spcPts val="0"/>
                        </a:spcAft>
                      </a:pPr>
                      <a:r>
                        <a:rPr lang="en-US" sz="1200" dirty="0" err="1"/>
                        <a:t>statistics_frame</a:t>
                      </a:r>
                      <a:r>
                        <a:rPr lang="en-US" sz="1200" dirty="0"/>
                        <a:t> – frame inside the history frame to hold the GUI elements for each game’s statistics</a:t>
                      </a:r>
                    </a:p>
                    <a:p>
                      <a:pPr>
                        <a:lnSpc>
                          <a:spcPct val="107000"/>
                        </a:lnSpc>
                        <a:spcAft>
                          <a:spcPts val="0"/>
                        </a:spcAft>
                      </a:pPr>
                      <a:r>
                        <a:rPr lang="en-US" sz="1200" dirty="0" err="1"/>
                        <a:t>statistics_label</a:t>
                      </a:r>
                      <a:r>
                        <a:rPr lang="en-US" sz="1200" dirty="0"/>
                        <a:t> – label for each games statistics, will be updated for each game.</a:t>
                      </a:r>
                    </a:p>
                    <a:p>
                      <a:pPr>
                        <a:lnSpc>
                          <a:spcPct val="107000"/>
                        </a:lnSpc>
                        <a:spcAft>
                          <a:spcPts val="0"/>
                        </a:spcAft>
                      </a:pPr>
                      <a:r>
                        <a:rPr lang="en-US" sz="1200" dirty="0" err="1"/>
                        <a:t>game_set</a:t>
                      </a:r>
                      <a:r>
                        <a:rPr lang="en-US" sz="1200" dirty="0"/>
                        <a:t>- Queue of each game’s statistics played this session, used to order the games on the </a:t>
                      </a:r>
                      <a:r>
                        <a:rPr lang="en-US" sz="1200" dirty="0" err="1"/>
                        <a:t>statistics_label</a:t>
                      </a:r>
                      <a:endParaRPr lang="en-US" sz="1200" dirty="0"/>
                    </a:p>
                    <a:p>
                      <a:pPr>
                        <a:lnSpc>
                          <a:spcPct val="107000"/>
                        </a:lnSpc>
                        <a:spcAft>
                          <a:spcPts val="0"/>
                        </a:spcAft>
                      </a:pPr>
                      <a:r>
                        <a:rPr lang="en-US" sz="1200" dirty="0" err="1"/>
                        <a:t>dismiss_button</a:t>
                      </a:r>
                      <a:r>
                        <a:rPr lang="en-US" sz="1200" dirty="0"/>
                        <a:t> – button to close the window and re-enable the main window</a:t>
                      </a:r>
                    </a:p>
                    <a:p>
                      <a:pPr>
                        <a:lnSpc>
                          <a:spcPct val="107000"/>
                        </a:lnSpc>
                        <a:spcAft>
                          <a:spcPts val="0"/>
                        </a:spcAft>
                      </a:pPr>
                      <a:r>
                        <a:rPr lang="en-US" sz="1200" dirty="0" err="1"/>
                        <a:t>export_button</a:t>
                      </a:r>
                      <a:r>
                        <a:rPr lang="en-US" sz="1200" dirty="0"/>
                        <a:t> – button to export all the results into a text file.</a:t>
                      </a:r>
                    </a:p>
                  </a:txBody>
                  <a:tcPr marL="16507" marR="16507" marT="0" marB="0"/>
                </a:tc>
                <a:extLst>
                  <a:ext uri="{0D108BD9-81ED-4DB2-BD59-A6C34878D82A}">
                    <a16:rowId xmlns:a16="http://schemas.microsoft.com/office/drawing/2014/main" val="3442394441"/>
                  </a:ext>
                </a:extLst>
              </a:tr>
            </a:tbl>
          </a:graphicData>
        </a:graphic>
      </p:graphicFrame>
    </p:spTree>
    <p:extLst>
      <p:ext uri="{BB962C8B-B14F-4D97-AF65-F5344CB8AC3E}">
        <p14:creationId xmlns:p14="http://schemas.microsoft.com/office/powerpoint/2010/main" val="2190414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364E9FF-8D2F-4F78-8200-80F9C2FCD27D}"/>
              </a:ext>
            </a:extLst>
          </p:cNvPr>
          <p:cNvGraphicFramePr>
            <a:graphicFrameLocks noGrp="1"/>
          </p:cNvGraphicFramePr>
          <p:nvPr>
            <p:extLst>
              <p:ext uri="{D42A27DB-BD31-4B8C-83A1-F6EECF244321}">
                <p14:modId xmlns:p14="http://schemas.microsoft.com/office/powerpoint/2010/main" val="486510809"/>
              </p:ext>
            </p:extLst>
          </p:nvPr>
        </p:nvGraphicFramePr>
        <p:xfrm>
          <a:off x="530089" y="524599"/>
          <a:ext cx="11094463" cy="6090208"/>
        </p:xfrm>
        <a:graphic>
          <a:graphicData uri="http://schemas.openxmlformats.org/drawingml/2006/table">
            <a:tbl>
              <a:tblPr firstRow="1" firstCol="1" bandRow="1">
                <a:tableStyleId>{5C22544A-7EE6-4342-B048-85BDC9FD1C3A}</a:tableStyleId>
              </a:tblPr>
              <a:tblGrid>
                <a:gridCol w="2345856">
                  <a:extLst>
                    <a:ext uri="{9D8B030D-6E8A-4147-A177-3AD203B41FA5}">
                      <a16:colId xmlns:a16="http://schemas.microsoft.com/office/drawing/2014/main" val="1807843760"/>
                    </a:ext>
                  </a:extLst>
                </a:gridCol>
                <a:gridCol w="2190415">
                  <a:extLst>
                    <a:ext uri="{9D8B030D-6E8A-4147-A177-3AD203B41FA5}">
                      <a16:colId xmlns:a16="http://schemas.microsoft.com/office/drawing/2014/main" val="1795912897"/>
                    </a:ext>
                  </a:extLst>
                </a:gridCol>
                <a:gridCol w="1512881">
                  <a:extLst>
                    <a:ext uri="{9D8B030D-6E8A-4147-A177-3AD203B41FA5}">
                      <a16:colId xmlns:a16="http://schemas.microsoft.com/office/drawing/2014/main" val="294204687"/>
                    </a:ext>
                  </a:extLst>
                </a:gridCol>
                <a:gridCol w="2184482">
                  <a:extLst>
                    <a:ext uri="{9D8B030D-6E8A-4147-A177-3AD203B41FA5}">
                      <a16:colId xmlns:a16="http://schemas.microsoft.com/office/drawing/2014/main" val="604172349"/>
                    </a:ext>
                  </a:extLst>
                </a:gridCol>
                <a:gridCol w="2860829">
                  <a:extLst>
                    <a:ext uri="{9D8B030D-6E8A-4147-A177-3AD203B41FA5}">
                      <a16:colId xmlns:a16="http://schemas.microsoft.com/office/drawing/2014/main" val="2499717825"/>
                    </a:ext>
                  </a:extLst>
                </a:gridCol>
              </a:tblGrid>
              <a:tr h="828228">
                <a:tc>
                  <a:txBody>
                    <a:bodyPr/>
                    <a:lstStyle/>
                    <a:p>
                      <a:pPr>
                        <a:lnSpc>
                          <a:spcPct val="107000"/>
                        </a:lnSpc>
                        <a:spcAft>
                          <a:spcPts val="0"/>
                        </a:spcAft>
                      </a:pPr>
                      <a:r>
                        <a:rPr lang="en-US" sz="1100">
                          <a:effectLst/>
                        </a:rPr>
                        <a:t>get_wordlist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MainWindow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Definition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Returns the current wordlist when called.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wordlist  - variable that is returned when the function is called.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8064796"/>
                  </a:ext>
                </a:extLst>
              </a:tr>
              <a:tr h="828228">
                <a:tc>
                  <a:txBody>
                    <a:bodyPr/>
                    <a:lstStyle/>
                    <a:p>
                      <a:pPr>
                        <a:lnSpc>
                          <a:spcPct val="107000"/>
                        </a:lnSpc>
                        <a:spcAft>
                          <a:spcPts val="0"/>
                        </a:spcAft>
                      </a:pPr>
                      <a:r>
                        <a:rPr lang="en-US" sz="1100">
                          <a:effectLst/>
                        </a:rPr>
                        <a:t>get_phrase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GameWindow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Definition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Returns the current phrase when called.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phrase – variable that is returned when the function is called.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6676036"/>
                  </a:ext>
                </a:extLst>
              </a:tr>
              <a:tr h="1108438">
                <a:tc>
                  <a:txBody>
                    <a:bodyPr/>
                    <a:lstStyle/>
                    <a:p>
                      <a:pPr>
                        <a:lnSpc>
                          <a:spcPct val="107000"/>
                        </a:lnSpc>
                        <a:spcAft>
                          <a:spcPts val="0"/>
                        </a:spcAft>
                      </a:pPr>
                      <a:r>
                        <a:rPr lang="en-US" sz="1100">
                          <a:effectLst/>
                        </a:rPr>
                        <a:t>get_letters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GameWindow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Definition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Returns the current list of letters when called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letters – variable that is returned when the function is called.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54692268"/>
                  </a:ext>
                </a:extLst>
              </a:tr>
              <a:tr h="1108438">
                <a:tc>
                  <a:txBody>
                    <a:bodyPr/>
                    <a:lstStyle/>
                    <a:p>
                      <a:pPr>
                        <a:lnSpc>
                          <a:spcPct val="107000"/>
                        </a:lnSpc>
                        <a:spcAft>
                          <a:spcPts val="0"/>
                        </a:spcAft>
                      </a:pPr>
                      <a:r>
                        <a:rPr lang="en-US" sz="1100">
                          <a:effectLst/>
                        </a:rPr>
                        <a:t>get_guesses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HistoryWindow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Definition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Returns the number of guesses when called.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guesses – variable that is returned when the function is called.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6794388"/>
                  </a:ext>
                </a:extLst>
              </a:tr>
              <a:tr h="1108438">
                <a:tc>
                  <a:txBody>
                    <a:bodyPr/>
                    <a:lstStyle/>
                    <a:p>
                      <a:pPr>
                        <a:lnSpc>
                          <a:spcPct val="107000"/>
                        </a:lnSpc>
                        <a:spcAft>
                          <a:spcPts val="0"/>
                        </a:spcAft>
                      </a:pPr>
                      <a:r>
                        <a:rPr lang="en-US" sz="1100">
                          <a:effectLst/>
                        </a:rPr>
                        <a:t>get_victory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HistoryWindow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Definition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Returns a bool if the game was won or not.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victory – a bool of either True or False that is returned when the function is called.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5975996"/>
                  </a:ext>
                </a:extLst>
              </a:tr>
              <a:tr h="1108438">
                <a:tc>
                  <a:txBody>
                    <a:bodyPr/>
                    <a:lstStyle/>
                    <a:p>
                      <a:pPr>
                        <a:lnSpc>
                          <a:spcPct val="107000"/>
                        </a:lnSpc>
                        <a:spcAft>
                          <a:spcPts val="0"/>
                        </a:spcAft>
                      </a:pPr>
                      <a:r>
                        <a:rPr lang="en-US" sz="1100">
                          <a:effectLst/>
                        </a:rPr>
                        <a:t>get_winloss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HistoryWindow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Definition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Returns the number of wins and losses for this session.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winloss – variable of the winloss ratio that is returned when the function is called.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960637"/>
                  </a:ext>
                </a:extLst>
              </a:tr>
            </a:tbl>
          </a:graphicData>
        </a:graphic>
      </p:graphicFrame>
    </p:spTree>
    <p:extLst>
      <p:ext uri="{BB962C8B-B14F-4D97-AF65-F5344CB8AC3E}">
        <p14:creationId xmlns:p14="http://schemas.microsoft.com/office/powerpoint/2010/main" val="4108975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2F778-FC42-42BD-89D0-8E53C92DE0E5}"/>
              </a:ext>
            </a:extLst>
          </p:cNvPr>
          <p:cNvSpPr>
            <a:spLocks noGrp="1"/>
          </p:cNvSpPr>
          <p:nvPr>
            <p:ph type="title"/>
          </p:nvPr>
        </p:nvSpPr>
        <p:spPr/>
        <p:txBody>
          <a:bodyPr/>
          <a:lstStyle/>
          <a:p>
            <a:r>
              <a:rPr lang="en-US" dirty="0"/>
              <a:t>Graphical User Interface Design (GUI) </a:t>
            </a:r>
          </a:p>
        </p:txBody>
      </p:sp>
      <p:pic>
        <p:nvPicPr>
          <p:cNvPr id="5" name="Content Placeholder 4" descr="A screenshot of a cell phone&#10;&#10;Description automatically generated">
            <a:extLst>
              <a:ext uri="{FF2B5EF4-FFF2-40B4-BE49-F238E27FC236}">
                <a16:creationId xmlns:a16="http://schemas.microsoft.com/office/drawing/2014/main" id="{15733F8F-1404-412B-B440-911416FE546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7548" t="14578" r="15311" b="36079"/>
          <a:stretch/>
        </p:blipFill>
        <p:spPr>
          <a:xfrm>
            <a:off x="358218" y="1482365"/>
            <a:ext cx="5438786" cy="2825684"/>
          </a:xfrm>
        </p:spPr>
      </p:pic>
      <p:pic>
        <p:nvPicPr>
          <p:cNvPr id="7" name="Picture 6" descr="A screenshot of a cell phone&#10;&#10;Description automatically generated">
            <a:extLst>
              <a:ext uri="{FF2B5EF4-FFF2-40B4-BE49-F238E27FC236}">
                <a16:creationId xmlns:a16="http://schemas.microsoft.com/office/drawing/2014/main" id="{94AC1698-4306-4BA3-84A2-C3917D3E672E}"/>
              </a:ext>
            </a:extLst>
          </p:cNvPr>
          <p:cNvPicPr>
            <a:picLocks noChangeAspect="1"/>
          </p:cNvPicPr>
          <p:nvPr/>
        </p:nvPicPr>
        <p:blipFill rotWithShape="1">
          <a:blip r:embed="rId3">
            <a:extLst>
              <a:ext uri="{28A0092B-C50C-407E-A947-70E740481C1C}">
                <a14:useLocalDpi xmlns:a14="http://schemas.microsoft.com/office/drawing/2010/main" val="0"/>
              </a:ext>
            </a:extLst>
          </a:blip>
          <a:srcRect l="21657" t="25255" r="20718" b="17975"/>
          <a:stretch/>
        </p:blipFill>
        <p:spPr>
          <a:xfrm>
            <a:off x="6096000" y="1690688"/>
            <a:ext cx="5590096" cy="3893270"/>
          </a:xfrm>
          <a:prstGeom prst="rect">
            <a:avLst/>
          </a:prstGeom>
        </p:spPr>
      </p:pic>
      <p:cxnSp>
        <p:nvCxnSpPr>
          <p:cNvPr id="9" name="Straight Arrow Connector 8">
            <a:extLst>
              <a:ext uri="{FF2B5EF4-FFF2-40B4-BE49-F238E27FC236}">
                <a16:creationId xmlns:a16="http://schemas.microsoft.com/office/drawing/2014/main" id="{D3354C86-A9ED-4ECA-ABAF-4E0A36F35227}"/>
              </a:ext>
            </a:extLst>
          </p:cNvPr>
          <p:cNvCxnSpPr>
            <a:cxnSpLocks/>
          </p:cNvCxnSpPr>
          <p:nvPr/>
        </p:nvCxnSpPr>
        <p:spPr>
          <a:xfrm flipV="1">
            <a:off x="3808429" y="2807928"/>
            <a:ext cx="2366128" cy="363276"/>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197526F1-91F2-4937-AFC1-9FC987DF4ACD}"/>
              </a:ext>
            </a:extLst>
          </p:cNvPr>
          <p:cNvCxnSpPr>
            <a:cxnSpLocks/>
          </p:cNvCxnSpPr>
          <p:nvPr/>
        </p:nvCxnSpPr>
        <p:spPr>
          <a:xfrm>
            <a:off x="3808429" y="3818961"/>
            <a:ext cx="2366128" cy="291126"/>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801AC129-B6E7-4DDD-A8C5-DDFA76F8FA1B}"/>
              </a:ext>
            </a:extLst>
          </p:cNvPr>
          <p:cNvSpPr txBox="1"/>
          <p:nvPr/>
        </p:nvSpPr>
        <p:spPr>
          <a:xfrm>
            <a:off x="537328" y="4296179"/>
            <a:ext cx="5259676" cy="1754326"/>
          </a:xfrm>
          <a:prstGeom prst="rect">
            <a:avLst/>
          </a:prstGeom>
          <a:noFill/>
        </p:spPr>
        <p:txBody>
          <a:bodyPr wrap="square" rtlCol="0">
            <a:spAutoFit/>
          </a:bodyPr>
          <a:lstStyle/>
          <a:p>
            <a:r>
              <a:rPr lang="en-US" dirty="0"/>
              <a:t>Both ‘Random’ and ‘Chosen’ Word buttons will start the game and open a new window. The only difference is the settings for the game will change.</a:t>
            </a:r>
          </a:p>
          <a:p>
            <a:r>
              <a:rPr lang="en-US" dirty="0"/>
              <a:t>The import wordlist button will simply open file explorer so that the user can choose a text file for the program to use.</a:t>
            </a:r>
          </a:p>
        </p:txBody>
      </p:sp>
    </p:spTree>
    <p:extLst>
      <p:ext uri="{BB962C8B-B14F-4D97-AF65-F5344CB8AC3E}">
        <p14:creationId xmlns:p14="http://schemas.microsoft.com/office/powerpoint/2010/main" val="3915209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5C5C-2766-4256-BA03-3C367C53EA51}"/>
              </a:ext>
            </a:extLst>
          </p:cNvPr>
          <p:cNvSpPr>
            <a:spLocks noGrp="1"/>
          </p:cNvSpPr>
          <p:nvPr>
            <p:ph type="title"/>
          </p:nvPr>
        </p:nvSpPr>
        <p:spPr/>
        <p:txBody>
          <a:bodyPr/>
          <a:lstStyle/>
          <a:p>
            <a:r>
              <a:rPr lang="en-US" dirty="0"/>
              <a:t>GUI (Continued)</a:t>
            </a:r>
          </a:p>
        </p:txBody>
      </p:sp>
      <p:pic>
        <p:nvPicPr>
          <p:cNvPr id="5" name="Picture 4" descr="A screenshot of a cell phone&#10;&#10;Description automatically generated">
            <a:extLst>
              <a:ext uri="{FF2B5EF4-FFF2-40B4-BE49-F238E27FC236}">
                <a16:creationId xmlns:a16="http://schemas.microsoft.com/office/drawing/2014/main" id="{8AC55C64-9D5E-43AD-81CC-8151BF62BA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053" y="1215955"/>
            <a:ext cx="3787109" cy="5276920"/>
          </a:xfrm>
          <a:prstGeom prst="rect">
            <a:avLst/>
          </a:prstGeom>
        </p:spPr>
      </p:pic>
      <p:cxnSp>
        <p:nvCxnSpPr>
          <p:cNvPr id="6" name="Straight Arrow Connector 5">
            <a:extLst>
              <a:ext uri="{FF2B5EF4-FFF2-40B4-BE49-F238E27FC236}">
                <a16:creationId xmlns:a16="http://schemas.microsoft.com/office/drawing/2014/main" id="{F2F21B30-A1C8-480E-BE98-F019A8ACBEED}"/>
              </a:ext>
            </a:extLst>
          </p:cNvPr>
          <p:cNvCxnSpPr>
            <a:cxnSpLocks/>
          </p:cNvCxnSpPr>
          <p:nvPr/>
        </p:nvCxnSpPr>
        <p:spPr>
          <a:xfrm>
            <a:off x="3729872" y="1760693"/>
            <a:ext cx="4217626"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2EAC5D04-85F2-46DE-8FCF-06C2EE0434CB}"/>
              </a:ext>
            </a:extLst>
          </p:cNvPr>
          <p:cNvSpPr txBox="1"/>
          <p:nvPr/>
        </p:nvSpPr>
        <p:spPr>
          <a:xfrm>
            <a:off x="4241260" y="2383277"/>
            <a:ext cx="3472774" cy="2585323"/>
          </a:xfrm>
          <a:prstGeom prst="rect">
            <a:avLst/>
          </a:prstGeom>
          <a:noFill/>
        </p:spPr>
        <p:txBody>
          <a:bodyPr wrap="square" rtlCol="0">
            <a:spAutoFit/>
          </a:bodyPr>
          <a:lstStyle/>
          <a:p>
            <a:r>
              <a:rPr lang="en-US" dirty="0"/>
              <a:t>This is the game history window which opens when the ‘Game History’ Button is pressed.</a:t>
            </a:r>
          </a:p>
          <a:p>
            <a:r>
              <a:rPr lang="en-US" dirty="0">
                <a:sym typeface="Wingdings" panose="05000000000000000000" pitchFamily="2" charset="2"/>
              </a:rPr>
              <a:t> </a:t>
            </a:r>
          </a:p>
          <a:p>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This is the window to save all your scores to a file.</a:t>
            </a:r>
          </a:p>
          <a:p>
            <a:r>
              <a:rPr lang="en-US" dirty="0">
                <a:sym typeface="Wingdings" panose="05000000000000000000" pitchFamily="2" charset="2"/>
              </a:rPr>
              <a:t>			</a:t>
            </a:r>
            <a:endParaRPr lang="en-US" dirty="0"/>
          </a:p>
        </p:txBody>
      </p:sp>
      <p:pic>
        <p:nvPicPr>
          <p:cNvPr id="9" name="Picture 8" descr="A screenshot of a cell phone&#10;&#10;Description automatically generated">
            <a:extLst>
              <a:ext uri="{FF2B5EF4-FFF2-40B4-BE49-F238E27FC236}">
                <a16:creationId xmlns:a16="http://schemas.microsoft.com/office/drawing/2014/main" id="{D93EF471-41D3-4A24-95B8-F27FB5EE7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9201" y="1371600"/>
            <a:ext cx="3829697" cy="3852153"/>
          </a:xfrm>
          <a:prstGeom prst="rect">
            <a:avLst/>
          </a:prstGeom>
        </p:spPr>
      </p:pic>
    </p:spTree>
    <p:extLst>
      <p:ext uri="{BB962C8B-B14F-4D97-AF65-F5344CB8AC3E}">
        <p14:creationId xmlns:p14="http://schemas.microsoft.com/office/powerpoint/2010/main" val="1313274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A420-E5FD-4520-8091-CAB1D2B5B096}"/>
              </a:ext>
            </a:extLst>
          </p:cNvPr>
          <p:cNvSpPr>
            <a:spLocks noGrp="1"/>
          </p:cNvSpPr>
          <p:nvPr>
            <p:ph type="title"/>
          </p:nvPr>
        </p:nvSpPr>
        <p:spPr/>
        <p:txBody>
          <a:bodyPr/>
          <a:lstStyle/>
          <a:p>
            <a:r>
              <a:rPr lang="en-US" dirty="0"/>
              <a:t>Research</a:t>
            </a:r>
          </a:p>
        </p:txBody>
      </p:sp>
      <p:sp>
        <p:nvSpPr>
          <p:cNvPr id="3" name="Content Placeholder 2">
            <a:extLst>
              <a:ext uri="{FF2B5EF4-FFF2-40B4-BE49-F238E27FC236}">
                <a16:creationId xmlns:a16="http://schemas.microsoft.com/office/drawing/2014/main" id="{FD8FC4A2-B3DA-4E88-8C4E-48BC4CF9E424}"/>
              </a:ext>
            </a:extLst>
          </p:cNvPr>
          <p:cNvSpPr>
            <a:spLocks noGrp="1"/>
          </p:cNvSpPr>
          <p:nvPr>
            <p:ph idx="1"/>
          </p:nvPr>
        </p:nvSpPr>
        <p:spPr/>
        <p:txBody>
          <a:bodyPr>
            <a:normAutofit/>
          </a:bodyPr>
          <a:lstStyle/>
          <a:p>
            <a:r>
              <a:rPr lang="en-US" sz="1800" dirty="0"/>
              <a:t>If you were to play a Hangman game would you rather have Clickable buttons or Radio Buttons?</a:t>
            </a:r>
          </a:p>
          <a:p>
            <a:r>
              <a:rPr lang="en-US" sz="1800" dirty="0"/>
              <a:t>Would you rather have </a:t>
            </a:r>
          </a:p>
        </p:txBody>
      </p:sp>
    </p:spTree>
    <p:extLst>
      <p:ext uri="{BB962C8B-B14F-4D97-AF65-F5344CB8AC3E}">
        <p14:creationId xmlns:p14="http://schemas.microsoft.com/office/powerpoint/2010/main" val="1265018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D110B73-11B3-41EA-95CD-07F43BC32B00}"/>
              </a:ext>
            </a:extLst>
          </p:cNvPr>
          <p:cNvSpPr>
            <a:spLocks noGrp="1"/>
          </p:cNvSpPr>
          <p:nvPr>
            <p:ph type="title"/>
          </p:nvPr>
        </p:nvSpPr>
        <p:spPr>
          <a:xfrm>
            <a:off x="804671" y="640263"/>
            <a:ext cx="3284331" cy="5254510"/>
          </a:xfrm>
        </p:spPr>
        <p:txBody>
          <a:bodyPr>
            <a:normAutofit/>
          </a:bodyPr>
          <a:lstStyle/>
          <a:p>
            <a:r>
              <a:rPr lang="en-US" b="1" dirty="0"/>
              <a:t>Program Structure</a:t>
            </a:r>
          </a:p>
        </p:txBody>
      </p:sp>
      <p:pic>
        <p:nvPicPr>
          <p:cNvPr id="13" name="Picture 12" descr="A screenshot of a cell phone&#10;&#10;Description automatically generated">
            <a:extLst>
              <a:ext uri="{FF2B5EF4-FFF2-40B4-BE49-F238E27FC236}">
                <a16:creationId xmlns:a16="http://schemas.microsoft.com/office/drawing/2014/main" id="{D9F6C94A-6615-4B19-A927-185F745FC355}"/>
              </a:ext>
            </a:extLst>
          </p:cNvPr>
          <p:cNvPicPr>
            <a:picLocks noChangeAspect="1"/>
          </p:cNvPicPr>
          <p:nvPr/>
        </p:nvPicPr>
        <p:blipFill rotWithShape="1">
          <a:blip r:embed="rId2">
            <a:extLst>
              <a:ext uri="{28A0092B-C50C-407E-A947-70E740481C1C}">
                <a14:useLocalDpi xmlns:a14="http://schemas.microsoft.com/office/drawing/2010/main" val="0"/>
              </a:ext>
            </a:extLst>
          </a:blip>
          <a:srcRect l="256" r="2" b="2"/>
          <a:stretch/>
        </p:blipFill>
        <p:spPr>
          <a:xfrm>
            <a:off x="4679797" y="10"/>
            <a:ext cx="7537704" cy="6857990"/>
          </a:xfrm>
          <a:prstGeom prst="rect">
            <a:avLst/>
          </a:prstGeom>
        </p:spPr>
      </p:pic>
    </p:spTree>
    <p:extLst>
      <p:ext uri="{BB962C8B-B14F-4D97-AF65-F5344CB8AC3E}">
        <p14:creationId xmlns:p14="http://schemas.microsoft.com/office/powerpoint/2010/main" val="3819971836"/>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E1F4D0-86F5-41DD-B892-FB2294C95FD2}"/>
              </a:ext>
            </a:extLst>
          </p:cNvPr>
          <p:cNvSpPr>
            <a:spLocks noGrp="1"/>
          </p:cNvSpPr>
          <p:nvPr>
            <p:ph type="title"/>
          </p:nvPr>
        </p:nvSpPr>
        <p:spPr>
          <a:xfrm>
            <a:off x="560470" y="648930"/>
            <a:ext cx="3588220" cy="5254510"/>
          </a:xfrm>
        </p:spPr>
        <p:txBody>
          <a:bodyPr>
            <a:normAutofit/>
          </a:bodyPr>
          <a:lstStyle/>
          <a:p>
            <a:r>
              <a:rPr lang="en-US" dirty="0"/>
              <a:t>Program Decomposition</a:t>
            </a:r>
          </a:p>
        </p:txBody>
      </p:sp>
      <p:sp>
        <p:nvSpPr>
          <p:cNvPr id="3" name="Content Placeholder 2">
            <a:extLst>
              <a:ext uri="{FF2B5EF4-FFF2-40B4-BE49-F238E27FC236}">
                <a16:creationId xmlns:a16="http://schemas.microsoft.com/office/drawing/2014/main" id="{8CB8620B-C539-40E1-A908-ECE4F9C8891A}"/>
              </a:ext>
            </a:extLst>
          </p:cNvPr>
          <p:cNvSpPr>
            <a:spLocks noGrp="1"/>
          </p:cNvSpPr>
          <p:nvPr>
            <p:ph idx="1"/>
          </p:nvPr>
        </p:nvSpPr>
        <p:spPr>
          <a:xfrm>
            <a:off x="5358384" y="640263"/>
            <a:ext cx="6028944" cy="5254510"/>
          </a:xfrm>
        </p:spPr>
        <p:txBody>
          <a:bodyPr anchor="ctr">
            <a:normAutofit fontScale="92500" lnSpcReduction="20000"/>
          </a:bodyPr>
          <a:lstStyle/>
          <a:p>
            <a:pPr marL="0" indent="0">
              <a:buNone/>
            </a:pPr>
            <a:r>
              <a:rPr lang="en-US" sz="2200" dirty="0">
                <a:solidFill>
                  <a:schemeClr val="bg1"/>
                </a:solidFill>
              </a:rPr>
              <a:t>Components needed currently. (Definitions)</a:t>
            </a:r>
          </a:p>
          <a:p>
            <a:r>
              <a:rPr lang="en-US" sz="2200" dirty="0">
                <a:solidFill>
                  <a:schemeClr val="bg1"/>
                </a:solidFill>
              </a:rPr>
              <a:t>export_scores</a:t>
            </a:r>
          </a:p>
          <a:p>
            <a:r>
              <a:rPr lang="en-US" sz="2200" dirty="0">
                <a:solidFill>
                  <a:schemeClr val="bg1"/>
                </a:solidFill>
              </a:rPr>
              <a:t>import_wordlist</a:t>
            </a:r>
          </a:p>
          <a:p>
            <a:r>
              <a:rPr lang="en-US" sz="2200" dirty="0">
                <a:solidFill>
                  <a:schemeClr val="bg1"/>
                </a:solidFill>
              </a:rPr>
              <a:t>main_window</a:t>
            </a:r>
          </a:p>
          <a:p>
            <a:r>
              <a:rPr lang="en-US" sz="2200" dirty="0">
                <a:solidFill>
                  <a:schemeClr val="bg1"/>
                </a:solidFill>
              </a:rPr>
              <a:t>game_window</a:t>
            </a:r>
          </a:p>
          <a:p>
            <a:r>
              <a:rPr lang="en-US" sz="2200" dirty="0">
                <a:solidFill>
                  <a:schemeClr val="bg1"/>
                </a:solidFill>
              </a:rPr>
              <a:t>history_window</a:t>
            </a:r>
          </a:p>
          <a:p>
            <a:r>
              <a:rPr lang="en-US" sz="2200" dirty="0">
                <a:solidFill>
                  <a:schemeClr val="bg1"/>
                </a:solidFill>
              </a:rPr>
              <a:t>game_information</a:t>
            </a:r>
          </a:p>
          <a:p>
            <a:r>
              <a:rPr lang="en-US" sz="2200" dirty="0">
                <a:solidFill>
                  <a:schemeClr val="bg1"/>
                </a:solidFill>
              </a:rPr>
              <a:t>wordlist_window</a:t>
            </a:r>
          </a:p>
          <a:p>
            <a:r>
              <a:rPr lang="en-US" sz="2200" dirty="0">
                <a:solidFill>
                  <a:schemeClr val="bg1"/>
                </a:solidFill>
              </a:rPr>
              <a:t>__init__</a:t>
            </a:r>
          </a:p>
          <a:p>
            <a:r>
              <a:rPr lang="en-US" sz="2200" dirty="0">
                <a:solidFill>
                  <a:schemeClr val="bg1"/>
                </a:solidFill>
              </a:rPr>
              <a:t>get_wordlist</a:t>
            </a:r>
          </a:p>
          <a:p>
            <a:r>
              <a:rPr lang="en-US" sz="2200" dirty="0">
                <a:solidFill>
                  <a:schemeClr val="bg1"/>
                </a:solidFill>
              </a:rPr>
              <a:t>get_phrase</a:t>
            </a:r>
          </a:p>
          <a:p>
            <a:r>
              <a:rPr lang="en-US" sz="2200" dirty="0">
                <a:solidFill>
                  <a:schemeClr val="bg1"/>
                </a:solidFill>
              </a:rPr>
              <a:t>get_letters</a:t>
            </a:r>
          </a:p>
          <a:p>
            <a:r>
              <a:rPr lang="en-US" sz="2200" dirty="0">
                <a:solidFill>
                  <a:schemeClr val="bg1"/>
                </a:solidFill>
              </a:rPr>
              <a:t>get_guesses</a:t>
            </a:r>
          </a:p>
          <a:p>
            <a:r>
              <a:rPr lang="en-US" sz="2200" dirty="0">
                <a:solidFill>
                  <a:schemeClr val="bg1"/>
                </a:solidFill>
              </a:rPr>
              <a:t>get_victory</a:t>
            </a:r>
          </a:p>
          <a:p>
            <a:r>
              <a:rPr lang="en-US" sz="2200" dirty="0">
                <a:solidFill>
                  <a:schemeClr val="bg1"/>
                </a:solidFill>
              </a:rPr>
              <a:t>get_winloss</a:t>
            </a:r>
          </a:p>
        </p:txBody>
      </p:sp>
    </p:spTree>
    <p:extLst>
      <p:ext uri="{BB962C8B-B14F-4D97-AF65-F5344CB8AC3E}">
        <p14:creationId xmlns:p14="http://schemas.microsoft.com/office/powerpoint/2010/main" val="388742577"/>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3C47C2-33A2-44B2-BEAB-FEB679075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3324"/>
            <a:ext cx="12192000" cy="6861324"/>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reeform 3">
            <a:extLst>
              <a:ext uri="{FF2B5EF4-FFF2-40B4-BE49-F238E27FC236}">
                <a16:creationId xmlns:a16="http://schemas.microsoft.com/office/drawing/2014/main" id="{AD182BA8-54AD-4D9F-8264-B0FA8BB47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246925" y="-479"/>
            <a:ext cx="9468701" cy="6858478"/>
          </a:xfrm>
          <a:custGeom>
            <a:avLst/>
            <a:gdLst>
              <a:gd name="connsiteX0" fmla="*/ 0 w 8078051"/>
              <a:gd name="connsiteY0" fmla="*/ 0 h 5829300"/>
              <a:gd name="connsiteX1" fmla="*/ 4453793 w 8078051"/>
              <a:gd name="connsiteY1" fmla="*/ 0 h 5829300"/>
              <a:gd name="connsiteX2" fmla="*/ 5363426 w 8078051"/>
              <a:gd name="connsiteY2" fmla="*/ 0 h 5829300"/>
              <a:gd name="connsiteX3" fmla="*/ 5368184 w 8078051"/>
              <a:gd name="connsiteY3" fmla="*/ 0 h 5829300"/>
              <a:gd name="connsiteX4" fmla="*/ 8078051 w 8078051"/>
              <a:gd name="connsiteY4" fmla="*/ 5829300 h 5829300"/>
              <a:gd name="connsiteX5" fmla="*/ 1743926 w 8078051"/>
              <a:gd name="connsiteY5" fmla="*/ 5829300 h 5829300"/>
              <a:gd name="connsiteX6" fmla="*/ 1744148 w 8078051"/>
              <a:gd name="connsiteY6" fmla="*/ 5828822 h 5829300"/>
              <a:gd name="connsiteX7" fmla="*/ 0 w 8078051"/>
              <a:gd name="connsiteY7" fmla="*/ 5828822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8051" h="5829300">
                <a:moveTo>
                  <a:pt x="0" y="0"/>
                </a:moveTo>
                <a:lnTo>
                  <a:pt x="4453793" y="0"/>
                </a:lnTo>
                <a:lnTo>
                  <a:pt x="5363426" y="0"/>
                </a:lnTo>
                <a:lnTo>
                  <a:pt x="5368184" y="0"/>
                </a:lnTo>
                <a:lnTo>
                  <a:pt x="8078051" y="5829300"/>
                </a:lnTo>
                <a:lnTo>
                  <a:pt x="1743926" y="5829300"/>
                </a:lnTo>
                <a:lnTo>
                  <a:pt x="1744148" y="5828822"/>
                </a:lnTo>
                <a:lnTo>
                  <a:pt x="0" y="5828822"/>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16">
            <a:extLst>
              <a:ext uri="{FF2B5EF4-FFF2-40B4-BE49-F238E27FC236}">
                <a16:creationId xmlns:a16="http://schemas.microsoft.com/office/drawing/2014/main" id="{4ED83379-0499-45E1-AB78-6AA230F96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479"/>
            <a:ext cx="9324977" cy="6858479"/>
          </a:xfrm>
          <a:custGeom>
            <a:avLst/>
            <a:gdLst>
              <a:gd name="connsiteX0" fmla="*/ 1246925 w 9324977"/>
              <a:gd name="connsiteY0" fmla="*/ 0 h 6858479"/>
              <a:gd name="connsiteX1" fmla="*/ 5076797 w 9324977"/>
              <a:gd name="connsiteY1" fmla="*/ 0 h 6858479"/>
              <a:gd name="connsiteX2" fmla="*/ 6143025 w 9324977"/>
              <a:gd name="connsiteY2" fmla="*/ 0 h 6858479"/>
              <a:gd name="connsiteX3" fmla="*/ 6148602 w 9324977"/>
              <a:gd name="connsiteY3" fmla="*/ 0 h 6858479"/>
              <a:gd name="connsiteX4" fmla="*/ 9324977 w 9324977"/>
              <a:gd name="connsiteY4" fmla="*/ 6858478 h 6858479"/>
              <a:gd name="connsiteX5" fmla="*/ 3359025 w 9324977"/>
              <a:gd name="connsiteY5" fmla="*/ 6858478 h 6858479"/>
              <a:gd name="connsiteX6" fmla="*/ 3359025 w 9324977"/>
              <a:gd name="connsiteY6" fmla="*/ 6858479 h 6858479"/>
              <a:gd name="connsiteX7" fmla="*/ 0 w 9324977"/>
              <a:gd name="connsiteY7" fmla="*/ 6858479 h 6858479"/>
              <a:gd name="connsiteX8" fmla="*/ 0 w 9324977"/>
              <a:gd name="connsiteY8" fmla="*/ 479 h 6858479"/>
              <a:gd name="connsiteX9" fmla="*/ 1246925 w 9324977"/>
              <a:gd name="connsiteY9" fmla="*/ 479 h 68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24977" h="6858479">
                <a:moveTo>
                  <a:pt x="1246925" y="0"/>
                </a:moveTo>
                <a:lnTo>
                  <a:pt x="5076797" y="0"/>
                </a:lnTo>
                <a:lnTo>
                  <a:pt x="6143025" y="0"/>
                </a:lnTo>
                <a:lnTo>
                  <a:pt x="6148602" y="0"/>
                </a:lnTo>
                <a:lnTo>
                  <a:pt x="9324977" y="6858478"/>
                </a:lnTo>
                <a:lnTo>
                  <a:pt x="3359025" y="6858478"/>
                </a:lnTo>
                <a:lnTo>
                  <a:pt x="3359025" y="6858479"/>
                </a:lnTo>
                <a:lnTo>
                  <a:pt x="0" y="6858479"/>
                </a:lnTo>
                <a:lnTo>
                  <a:pt x="0" y="479"/>
                </a:lnTo>
                <a:lnTo>
                  <a:pt x="1246925" y="479"/>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CF511B-0FF6-4878-82C7-FE99F2CE7812}"/>
              </a:ext>
            </a:extLst>
          </p:cNvPr>
          <p:cNvSpPr>
            <a:spLocks noGrp="1"/>
          </p:cNvSpPr>
          <p:nvPr>
            <p:ph type="ctrTitle"/>
          </p:nvPr>
        </p:nvSpPr>
        <p:spPr>
          <a:xfrm>
            <a:off x="804672" y="962246"/>
            <a:ext cx="6437700" cy="2611967"/>
          </a:xfrm>
        </p:spPr>
        <p:txBody>
          <a:bodyPr anchor="b">
            <a:normAutofit/>
          </a:bodyPr>
          <a:lstStyle/>
          <a:p>
            <a:pPr algn="l"/>
            <a:r>
              <a:rPr lang="en-US" sz="5400" dirty="0"/>
              <a:t>Component Development</a:t>
            </a:r>
          </a:p>
        </p:txBody>
      </p:sp>
    </p:spTree>
    <p:extLst>
      <p:ext uri="{BB962C8B-B14F-4D97-AF65-F5344CB8AC3E}">
        <p14:creationId xmlns:p14="http://schemas.microsoft.com/office/powerpoint/2010/main" val="1099709742"/>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EE9183-5A61-409F-A327-6E80A2BC8CB0}"/>
              </a:ext>
            </a:extLst>
          </p:cNvPr>
          <p:cNvSpPr>
            <a:spLocks noGrp="1"/>
          </p:cNvSpPr>
          <p:nvPr>
            <p:ph type="title"/>
          </p:nvPr>
        </p:nvSpPr>
        <p:spPr>
          <a:xfrm>
            <a:off x="804671" y="640263"/>
            <a:ext cx="3284331" cy="5254510"/>
          </a:xfrm>
        </p:spPr>
        <p:txBody>
          <a:bodyPr>
            <a:normAutofit/>
          </a:bodyPr>
          <a:lstStyle/>
          <a:p>
            <a:r>
              <a:rPr lang="en-US" u="sng" dirty="0"/>
              <a:t>Component 1</a:t>
            </a:r>
            <a:br>
              <a:rPr lang="en-US" dirty="0"/>
            </a:br>
            <a:r>
              <a:rPr lang="en-US" dirty="0"/>
              <a:t>Main menu</a:t>
            </a:r>
          </a:p>
        </p:txBody>
      </p:sp>
      <p:sp>
        <p:nvSpPr>
          <p:cNvPr id="3" name="Content Placeholder 2">
            <a:extLst>
              <a:ext uri="{FF2B5EF4-FFF2-40B4-BE49-F238E27FC236}">
                <a16:creationId xmlns:a16="http://schemas.microsoft.com/office/drawing/2014/main" id="{F31975E7-3FC9-4200-85AF-7A4F425808B1}"/>
              </a:ext>
            </a:extLst>
          </p:cNvPr>
          <p:cNvSpPr>
            <a:spLocks noGrp="1"/>
          </p:cNvSpPr>
          <p:nvPr>
            <p:ph idx="1"/>
          </p:nvPr>
        </p:nvSpPr>
        <p:spPr>
          <a:xfrm>
            <a:off x="5358384" y="640263"/>
            <a:ext cx="6028944" cy="5254510"/>
          </a:xfrm>
        </p:spPr>
        <p:txBody>
          <a:bodyPr anchor="ctr">
            <a:normAutofit/>
          </a:bodyPr>
          <a:lstStyle/>
          <a:p>
            <a:pPr marL="0" indent="0">
              <a:buNone/>
            </a:pPr>
            <a:r>
              <a:rPr lang="en-US" sz="2200" dirty="0">
                <a:solidFill>
                  <a:schemeClr val="bg1"/>
                </a:solidFill>
              </a:rPr>
              <a:t>The goal is to create the main GUI of the Hangman game as planned, to allow the user to press each button. To show this I will add temporary windows for each button press, I will make sure the user can’t keep pressing the button to create duplicate windows. I will also make sure that when the temp window is closed the buttons will re-enable themselves.</a:t>
            </a:r>
          </a:p>
        </p:txBody>
      </p:sp>
    </p:spTree>
    <p:extLst>
      <p:ext uri="{BB962C8B-B14F-4D97-AF65-F5344CB8AC3E}">
        <p14:creationId xmlns:p14="http://schemas.microsoft.com/office/powerpoint/2010/main" val="2429577232"/>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CEF8B-779F-4EB0-B9F6-63F9B4C1EA2B}"/>
              </a:ext>
            </a:extLst>
          </p:cNvPr>
          <p:cNvSpPr>
            <a:spLocks noGrp="1"/>
          </p:cNvSpPr>
          <p:nvPr>
            <p:ph type="title"/>
          </p:nvPr>
        </p:nvSpPr>
        <p:spPr/>
        <p:txBody>
          <a:bodyPr/>
          <a:lstStyle/>
          <a:p>
            <a:r>
              <a:rPr lang="en-US" dirty="0"/>
              <a:t>Main Menu Trialing – Clickable Buttons </a:t>
            </a:r>
          </a:p>
        </p:txBody>
      </p:sp>
      <p:sp>
        <p:nvSpPr>
          <p:cNvPr id="3" name="Content Placeholder 2">
            <a:extLst>
              <a:ext uri="{FF2B5EF4-FFF2-40B4-BE49-F238E27FC236}">
                <a16:creationId xmlns:a16="http://schemas.microsoft.com/office/drawing/2014/main" id="{604F2AA1-1599-469A-BB24-405A436E82C3}"/>
              </a:ext>
            </a:extLst>
          </p:cNvPr>
          <p:cNvSpPr>
            <a:spLocks noGrp="1"/>
          </p:cNvSpPr>
          <p:nvPr>
            <p:ph idx="1"/>
          </p:nvPr>
        </p:nvSpPr>
        <p:spPr>
          <a:xfrm>
            <a:off x="8644378" y="1825625"/>
            <a:ext cx="2709421" cy="4351338"/>
          </a:xfrm>
        </p:spPr>
        <p:txBody>
          <a:bodyPr>
            <a:normAutofit/>
          </a:bodyPr>
          <a:lstStyle/>
          <a:p>
            <a:r>
              <a:rPr lang="en-US" sz="1800" u="sng" dirty="0"/>
              <a:t>Pros</a:t>
            </a:r>
          </a:p>
          <a:p>
            <a:r>
              <a:rPr lang="en-US" sz="1800" dirty="0"/>
              <a:t>Looks the best</a:t>
            </a:r>
          </a:p>
          <a:p>
            <a:r>
              <a:rPr lang="en-US" sz="1800" dirty="0"/>
              <a:t>Easiest to use</a:t>
            </a:r>
          </a:p>
          <a:p>
            <a:r>
              <a:rPr lang="en-US" sz="1800" dirty="0"/>
              <a:t>Easiest to code</a:t>
            </a:r>
          </a:p>
          <a:p>
            <a:r>
              <a:rPr lang="en-US" sz="1800" u="sng" dirty="0"/>
              <a:t>Cons</a:t>
            </a:r>
          </a:p>
          <a:p>
            <a:r>
              <a:rPr lang="en-US" sz="1800" dirty="0" err="1"/>
              <a:t>Colour</a:t>
            </a:r>
            <a:r>
              <a:rPr lang="en-US" sz="1800" dirty="0"/>
              <a:t> choice could be better</a:t>
            </a:r>
          </a:p>
          <a:p>
            <a:r>
              <a:rPr lang="en-US" sz="1800" dirty="0"/>
              <a:t>Too much information</a:t>
            </a:r>
          </a:p>
          <a:p>
            <a:endParaRPr lang="en-US" sz="1800" dirty="0"/>
          </a:p>
        </p:txBody>
      </p:sp>
      <p:pic>
        <p:nvPicPr>
          <p:cNvPr id="4" name="Picture 3">
            <a:extLst>
              <a:ext uri="{FF2B5EF4-FFF2-40B4-BE49-F238E27FC236}">
                <a16:creationId xmlns:a16="http://schemas.microsoft.com/office/drawing/2014/main" id="{DC672746-FFE5-44F0-BC25-36DA6C5AC2BB}"/>
              </a:ext>
            </a:extLst>
          </p:cNvPr>
          <p:cNvPicPr>
            <a:picLocks noChangeAspect="1"/>
          </p:cNvPicPr>
          <p:nvPr/>
        </p:nvPicPr>
        <p:blipFill>
          <a:blip r:embed="rId2"/>
          <a:stretch>
            <a:fillRect/>
          </a:stretch>
        </p:blipFill>
        <p:spPr>
          <a:xfrm>
            <a:off x="370493" y="1990872"/>
            <a:ext cx="7981950" cy="3762375"/>
          </a:xfrm>
          <a:prstGeom prst="rect">
            <a:avLst/>
          </a:prstGeom>
        </p:spPr>
      </p:pic>
    </p:spTree>
    <p:extLst>
      <p:ext uri="{BB962C8B-B14F-4D97-AF65-F5344CB8AC3E}">
        <p14:creationId xmlns:p14="http://schemas.microsoft.com/office/powerpoint/2010/main" val="1791655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CEF8B-779F-4EB0-B9F6-63F9B4C1EA2B}"/>
              </a:ext>
            </a:extLst>
          </p:cNvPr>
          <p:cNvSpPr>
            <a:spLocks noGrp="1"/>
          </p:cNvSpPr>
          <p:nvPr>
            <p:ph type="title"/>
          </p:nvPr>
        </p:nvSpPr>
        <p:spPr/>
        <p:txBody>
          <a:bodyPr/>
          <a:lstStyle/>
          <a:p>
            <a:r>
              <a:rPr lang="en-US" dirty="0"/>
              <a:t>Main Menu Trialing – Radio Buttons </a:t>
            </a:r>
          </a:p>
        </p:txBody>
      </p:sp>
      <p:sp>
        <p:nvSpPr>
          <p:cNvPr id="3" name="Content Placeholder 2">
            <a:extLst>
              <a:ext uri="{FF2B5EF4-FFF2-40B4-BE49-F238E27FC236}">
                <a16:creationId xmlns:a16="http://schemas.microsoft.com/office/drawing/2014/main" id="{604F2AA1-1599-469A-BB24-405A436E82C3}"/>
              </a:ext>
            </a:extLst>
          </p:cNvPr>
          <p:cNvSpPr>
            <a:spLocks noGrp="1"/>
          </p:cNvSpPr>
          <p:nvPr>
            <p:ph idx="1"/>
          </p:nvPr>
        </p:nvSpPr>
        <p:spPr>
          <a:xfrm>
            <a:off x="8644378" y="1825625"/>
            <a:ext cx="2709421" cy="4351338"/>
          </a:xfrm>
        </p:spPr>
        <p:txBody>
          <a:bodyPr>
            <a:normAutofit/>
          </a:bodyPr>
          <a:lstStyle/>
          <a:p>
            <a:r>
              <a:rPr lang="en-US" sz="1800" u="sng" dirty="0"/>
              <a:t>Pros</a:t>
            </a:r>
          </a:p>
          <a:p>
            <a:r>
              <a:rPr lang="en-US" sz="1800" dirty="0"/>
              <a:t>User can confirm their choice</a:t>
            </a:r>
          </a:p>
          <a:p>
            <a:r>
              <a:rPr lang="en-US" sz="1800" u="sng" dirty="0"/>
              <a:t>Cons</a:t>
            </a:r>
          </a:p>
          <a:p>
            <a:r>
              <a:rPr lang="en-US" sz="1800" dirty="0"/>
              <a:t>Harder to use</a:t>
            </a:r>
          </a:p>
          <a:p>
            <a:r>
              <a:rPr lang="en-US" sz="1800" dirty="0"/>
              <a:t>Harder to implement</a:t>
            </a:r>
          </a:p>
          <a:p>
            <a:r>
              <a:rPr lang="en-US" sz="1800" dirty="0"/>
              <a:t>Uglier</a:t>
            </a:r>
          </a:p>
          <a:p>
            <a:endParaRPr lang="en-US" sz="1800" dirty="0"/>
          </a:p>
        </p:txBody>
      </p:sp>
      <p:pic>
        <p:nvPicPr>
          <p:cNvPr id="10" name="Picture 9" descr="A screenshot of a cell phone&#10;&#10;Description automatically generated">
            <a:extLst>
              <a:ext uri="{FF2B5EF4-FFF2-40B4-BE49-F238E27FC236}">
                <a16:creationId xmlns:a16="http://schemas.microsoft.com/office/drawing/2014/main" id="{0A3CCC56-898D-475A-AA93-39DCEC35A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926" y="1690688"/>
            <a:ext cx="7799201" cy="3630342"/>
          </a:xfrm>
          <a:prstGeom prst="rect">
            <a:avLst/>
          </a:prstGeom>
        </p:spPr>
      </p:pic>
    </p:spTree>
    <p:extLst>
      <p:ext uri="{BB962C8B-B14F-4D97-AF65-F5344CB8AC3E}">
        <p14:creationId xmlns:p14="http://schemas.microsoft.com/office/powerpoint/2010/main" val="3378209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FA33FF-088D-4F16-95A2-2C64D353D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376EFB1-01CF-419F-ABF1-2AF02BBFC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09160" cy="6858000"/>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FF9DEA15-78BD-4750-AA18-B9F28A6D5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84331"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EE9183-5A61-409F-A327-6E80A2BC8CB0}"/>
              </a:ext>
            </a:extLst>
          </p:cNvPr>
          <p:cNvSpPr>
            <a:spLocks noGrp="1"/>
          </p:cNvSpPr>
          <p:nvPr>
            <p:ph type="title"/>
          </p:nvPr>
        </p:nvSpPr>
        <p:spPr>
          <a:xfrm>
            <a:off x="377334" y="640263"/>
            <a:ext cx="3284331" cy="5254510"/>
          </a:xfrm>
        </p:spPr>
        <p:txBody>
          <a:bodyPr>
            <a:normAutofit/>
          </a:bodyPr>
          <a:lstStyle/>
          <a:p>
            <a:r>
              <a:rPr lang="en-US" u="sng" dirty="0"/>
              <a:t>Component 1</a:t>
            </a:r>
            <a:br>
              <a:rPr lang="en-US" dirty="0"/>
            </a:br>
            <a:r>
              <a:rPr lang="en-US" dirty="0"/>
              <a:t>Main menu testing</a:t>
            </a:r>
          </a:p>
        </p:txBody>
      </p:sp>
      <p:graphicFrame>
        <p:nvGraphicFramePr>
          <p:cNvPr id="3" name="Table 3">
            <a:extLst>
              <a:ext uri="{FF2B5EF4-FFF2-40B4-BE49-F238E27FC236}">
                <a16:creationId xmlns:a16="http://schemas.microsoft.com/office/drawing/2014/main" id="{F11D0179-E48A-4D85-B74A-B45C7D3D9BF2}"/>
              </a:ext>
            </a:extLst>
          </p:cNvPr>
          <p:cNvGraphicFramePr>
            <a:graphicFrameLocks noGrp="1"/>
          </p:cNvGraphicFramePr>
          <p:nvPr>
            <p:extLst>
              <p:ext uri="{D42A27DB-BD31-4B8C-83A1-F6EECF244321}">
                <p14:modId xmlns:p14="http://schemas.microsoft.com/office/powerpoint/2010/main" val="4152259056"/>
              </p:ext>
            </p:extLst>
          </p:nvPr>
        </p:nvGraphicFramePr>
        <p:xfrm>
          <a:off x="5401818" y="1856740"/>
          <a:ext cx="6096000" cy="3881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71326191"/>
                    </a:ext>
                  </a:extLst>
                </a:gridCol>
                <a:gridCol w="2032000">
                  <a:extLst>
                    <a:ext uri="{9D8B030D-6E8A-4147-A177-3AD203B41FA5}">
                      <a16:colId xmlns:a16="http://schemas.microsoft.com/office/drawing/2014/main" val="2907036451"/>
                    </a:ext>
                  </a:extLst>
                </a:gridCol>
                <a:gridCol w="2032000">
                  <a:extLst>
                    <a:ext uri="{9D8B030D-6E8A-4147-A177-3AD203B41FA5}">
                      <a16:colId xmlns:a16="http://schemas.microsoft.com/office/drawing/2014/main" val="1462466545"/>
                    </a:ext>
                  </a:extLst>
                </a:gridCol>
              </a:tblGrid>
              <a:tr h="370840">
                <a:tc>
                  <a:txBody>
                    <a:bodyPr/>
                    <a:lstStyle/>
                    <a:p>
                      <a:r>
                        <a:rPr lang="en-US" dirty="0"/>
                        <a:t>Test Case</a:t>
                      </a:r>
                      <a:endParaRPr lang="en-NZ" dirty="0"/>
                    </a:p>
                  </a:txBody>
                  <a:tcPr/>
                </a:tc>
                <a:tc>
                  <a:txBody>
                    <a:bodyPr/>
                    <a:lstStyle/>
                    <a:p>
                      <a:r>
                        <a:rPr lang="en-US" dirty="0"/>
                        <a:t>Intended Effect</a:t>
                      </a:r>
                      <a:endParaRPr lang="en-NZ" dirty="0"/>
                    </a:p>
                  </a:txBody>
                  <a:tcPr/>
                </a:tc>
                <a:tc>
                  <a:txBody>
                    <a:bodyPr/>
                    <a:lstStyle/>
                    <a:p>
                      <a:r>
                        <a:rPr lang="en-US" dirty="0"/>
                        <a:t>Actual Effect</a:t>
                      </a:r>
                      <a:endParaRPr lang="en-NZ" dirty="0"/>
                    </a:p>
                  </a:txBody>
                  <a:tcPr/>
                </a:tc>
                <a:extLst>
                  <a:ext uri="{0D108BD9-81ED-4DB2-BD59-A6C34878D82A}">
                    <a16:rowId xmlns:a16="http://schemas.microsoft.com/office/drawing/2014/main" val="672600813"/>
                  </a:ext>
                </a:extLst>
              </a:tr>
              <a:tr h="349738">
                <a:tc>
                  <a:txBody>
                    <a:bodyPr/>
                    <a:lstStyle/>
                    <a:p>
                      <a:r>
                        <a:rPr lang="en-US" sz="1000" dirty="0"/>
                        <a:t>Select Wordlist Button is pressed.</a:t>
                      </a:r>
                      <a:endParaRPr lang="en-NZ" sz="1000" dirty="0"/>
                    </a:p>
                  </a:txBody>
                  <a:tcPr/>
                </a:tc>
                <a:tc>
                  <a:txBody>
                    <a:bodyPr/>
                    <a:lstStyle/>
                    <a:p>
                      <a:r>
                        <a:rPr lang="en-US" sz="1000" dirty="0"/>
                        <a:t>Window to select the Wordlist for the game opens.</a:t>
                      </a:r>
                      <a:endParaRPr lang="en-NZ"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Window to select the Wordlist for the game opens.</a:t>
                      </a:r>
                      <a:endParaRPr lang="en-NZ" sz="1000" dirty="0"/>
                    </a:p>
                    <a:p>
                      <a:endParaRPr lang="en-NZ" sz="1000" dirty="0"/>
                    </a:p>
                  </a:txBody>
                  <a:tcPr/>
                </a:tc>
                <a:extLst>
                  <a:ext uri="{0D108BD9-81ED-4DB2-BD59-A6C34878D82A}">
                    <a16:rowId xmlns:a16="http://schemas.microsoft.com/office/drawing/2014/main" val="4147030442"/>
                  </a:ext>
                </a:extLst>
              </a:tr>
              <a:tr h="370840">
                <a:tc>
                  <a:txBody>
                    <a:bodyPr/>
                    <a:lstStyle/>
                    <a:p>
                      <a:r>
                        <a:rPr lang="en-US" sz="1000" dirty="0"/>
                        <a:t>Random Word button is pressed with no wordlist selected</a:t>
                      </a:r>
                      <a:endParaRPr lang="en-NZ" sz="1000" dirty="0"/>
                    </a:p>
                  </a:txBody>
                  <a:tcPr/>
                </a:tc>
                <a:tc>
                  <a:txBody>
                    <a:bodyPr/>
                    <a:lstStyle/>
                    <a:p>
                      <a:r>
                        <a:rPr lang="en-US" sz="1000" dirty="0"/>
                        <a:t>Wordlist window opens and the game prompts you to select a wordlist</a:t>
                      </a:r>
                      <a:endParaRPr lang="en-NZ" sz="1000" dirty="0"/>
                    </a:p>
                  </a:txBody>
                  <a:tcPr/>
                </a:tc>
                <a:tc>
                  <a:txBody>
                    <a:bodyPr/>
                    <a:lstStyle/>
                    <a:p>
                      <a:r>
                        <a:rPr lang="en-US" sz="1000" dirty="0"/>
                        <a:t>Wordlist window opens and the game prompts you to select a wordlist</a:t>
                      </a:r>
                      <a:endParaRPr lang="en-NZ" sz="1000" dirty="0"/>
                    </a:p>
                  </a:txBody>
                  <a:tcPr/>
                </a:tc>
                <a:extLst>
                  <a:ext uri="{0D108BD9-81ED-4DB2-BD59-A6C34878D82A}">
                    <a16:rowId xmlns:a16="http://schemas.microsoft.com/office/drawing/2014/main" val="2509475537"/>
                  </a:ext>
                </a:extLst>
              </a:tr>
              <a:tr h="370840">
                <a:tc>
                  <a:txBody>
                    <a:bodyPr/>
                    <a:lstStyle/>
                    <a:p>
                      <a:r>
                        <a:rPr lang="en-US" sz="1000" dirty="0"/>
                        <a:t>Random Word button is pressed with a wordlist selected</a:t>
                      </a:r>
                      <a:endParaRPr lang="en-NZ" sz="1000" dirty="0"/>
                    </a:p>
                  </a:txBody>
                  <a:tcPr/>
                </a:tc>
                <a:tc>
                  <a:txBody>
                    <a:bodyPr/>
                    <a:lstStyle/>
                    <a:p>
                      <a:r>
                        <a:rPr lang="en-US" sz="1000" dirty="0"/>
                        <a:t>Game starts with a random word</a:t>
                      </a:r>
                      <a:endParaRPr lang="en-NZ" sz="1000" dirty="0"/>
                    </a:p>
                  </a:txBody>
                  <a:tcPr/>
                </a:tc>
                <a:tc>
                  <a:txBody>
                    <a:bodyPr/>
                    <a:lstStyle/>
                    <a:p>
                      <a:r>
                        <a:rPr lang="en-US" sz="1000" dirty="0"/>
                        <a:t>Game starts with a random word</a:t>
                      </a:r>
                      <a:endParaRPr lang="en-NZ" sz="1000" dirty="0"/>
                    </a:p>
                  </a:txBody>
                  <a:tcPr/>
                </a:tc>
                <a:extLst>
                  <a:ext uri="{0D108BD9-81ED-4DB2-BD59-A6C34878D82A}">
                    <a16:rowId xmlns:a16="http://schemas.microsoft.com/office/drawing/2014/main" val="1326672"/>
                  </a:ext>
                </a:extLst>
              </a:tr>
              <a:tr h="370840">
                <a:tc>
                  <a:txBody>
                    <a:bodyPr/>
                    <a:lstStyle/>
                    <a:p>
                      <a:r>
                        <a:rPr lang="en-US" sz="1000" dirty="0"/>
                        <a:t>Chosen Word is pressed</a:t>
                      </a:r>
                      <a:endParaRPr lang="en-NZ" sz="1000" dirty="0"/>
                    </a:p>
                  </a:txBody>
                  <a:tcPr/>
                </a:tc>
                <a:tc>
                  <a:txBody>
                    <a:bodyPr/>
                    <a:lstStyle/>
                    <a:p>
                      <a:r>
                        <a:rPr lang="en-US" sz="1000" dirty="0"/>
                        <a:t>Window for user to enter a word opens</a:t>
                      </a:r>
                      <a:endParaRPr lang="en-NZ"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Window for user to enter a word opens</a:t>
                      </a:r>
                      <a:endParaRPr lang="en-NZ" sz="1000" dirty="0"/>
                    </a:p>
                    <a:p>
                      <a:endParaRPr lang="en-NZ" sz="1000" dirty="0"/>
                    </a:p>
                  </a:txBody>
                  <a:tcPr/>
                </a:tc>
                <a:extLst>
                  <a:ext uri="{0D108BD9-81ED-4DB2-BD59-A6C34878D82A}">
                    <a16:rowId xmlns:a16="http://schemas.microsoft.com/office/drawing/2014/main" val="1223844513"/>
                  </a:ext>
                </a:extLst>
              </a:tr>
              <a:tr h="370840">
                <a:tc>
                  <a:txBody>
                    <a:bodyPr/>
                    <a:lstStyle/>
                    <a:p>
                      <a:r>
                        <a:rPr lang="en-US" sz="1000" dirty="0"/>
                        <a:t>Game History is pressed with no games played</a:t>
                      </a:r>
                      <a:endParaRPr lang="en-NZ" sz="1000" dirty="0"/>
                    </a:p>
                  </a:txBody>
                  <a:tcPr/>
                </a:tc>
                <a:tc>
                  <a:txBody>
                    <a:bodyPr/>
                    <a:lstStyle/>
                    <a:p>
                      <a:r>
                        <a:rPr lang="en-US" sz="1000" dirty="0"/>
                        <a:t>Menu warns you that no games have been played and prompts you to play a game</a:t>
                      </a:r>
                      <a:endParaRPr lang="en-NZ" sz="1000" dirty="0"/>
                    </a:p>
                  </a:txBody>
                  <a:tcPr/>
                </a:tc>
                <a:tc>
                  <a:txBody>
                    <a:bodyPr/>
                    <a:lstStyle/>
                    <a:p>
                      <a:r>
                        <a:rPr lang="en-US" sz="1000" dirty="0"/>
                        <a:t>Menu warns you that no games have been played and prompts you to play a game</a:t>
                      </a:r>
                      <a:endParaRPr lang="en-NZ" sz="1000" dirty="0"/>
                    </a:p>
                  </a:txBody>
                  <a:tcPr/>
                </a:tc>
                <a:extLst>
                  <a:ext uri="{0D108BD9-81ED-4DB2-BD59-A6C34878D82A}">
                    <a16:rowId xmlns:a16="http://schemas.microsoft.com/office/drawing/2014/main" val="1233946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Game History is pressed with games played</a:t>
                      </a:r>
                      <a:endParaRPr lang="en-NZ" sz="1000" dirty="0"/>
                    </a:p>
                    <a:p>
                      <a:endParaRPr lang="en-NZ" sz="1000" dirty="0"/>
                    </a:p>
                  </a:txBody>
                  <a:tcPr/>
                </a:tc>
                <a:tc>
                  <a:txBody>
                    <a:bodyPr/>
                    <a:lstStyle/>
                    <a:p>
                      <a:r>
                        <a:rPr lang="en-US" sz="1000" dirty="0"/>
                        <a:t>History window opens up</a:t>
                      </a:r>
                      <a:endParaRPr lang="en-NZ" sz="1000" dirty="0"/>
                    </a:p>
                  </a:txBody>
                  <a:tcPr/>
                </a:tc>
                <a:tc>
                  <a:txBody>
                    <a:bodyPr/>
                    <a:lstStyle/>
                    <a:p>
                      <a:r>
                        <a:rPr lang="en-US" sz="1000" dirty="0"/>
                        <a:t>History window opens up</a:t>
                      </a:r>
                      <a:endParaRPr lang="en-NZ" sz="1000" dirty="0"/>
                    </a:p>
                  </a:txBody>
                  <a:tcPr/>
                </a:tc>
                <a:extLst>
                  <a:ext uri="{0D108BD9-81ED-4DB2-BD59-A6C34878D82A}">
                    <a16:rowId xmlns:a16="http://schemas.microsoft.com/office/drawing/2014/main" val="489384353"/>
                  </a:ext>
                </a:extLst>
              </a:tr>
              <a:tr h="370840">
                <a:tc>
                  <a:txBody>
                    <a:bodyPr/>
                    <a:lstStyle/>
                    <a:p>
                      <a:endParaRPr lang="en-NZ" sz="1000" dirty="0"/>
                    </a:p>
                  </a:txBody>
                  <a:tcPr/>
                </a:tc>
                <a:tc>
                  <a:txBody>
                    <a:bodyPr/>
                    <a:lstStyle/>
                    <a:p>
                      <a:endParaRPr lang="en-NZ" sz="1000"/>
                    </a:p>
                  </a:txBody>
                  <a:tcPr/>
                </a:tc>
                <a:tc>
                  <a:txBody>
                    <a:bodyPr/>
                    <a:lstStyle/>
                    <a:p>
                      <a:endParaRPr lang="en-NZ" sz="1000" dirty="0"/>
                    </a:p>
                  </a:txBody>
                  <a:tcPr/>
                </a:tc>
                <a:extLst>
                  <a:ext uri="{0D108BD9-81ED-4DB2-BD59-A6C34878D82A}">
                    <a16:rowId xmlns:a16="http://schemas.microsoft.com/office/drawing/2014/main" val="676001260"/>
                  </a:ext>
                </a:extLst>
              </a:tr>
            </a:tbl>
          </a:graphicData>
        </a:graphic>
      </p:graphicFrame>
    </p:spTree>
    <p:extLst>
      <p:ext uri="{BB962C8B-B14F-4D97-AF65-F5344CB8AC3E}">
        <p14:creationId xmlns:p14="http://schemas.microsoft.com/office/powerpoint/2010/main" val="746605534"/>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185069-0ABB-4388-B898-D7BEB8CECBF6}"/>
              </a:ext>
            </a:extLst>
          </p:cNvPr>
          <p:cNvSpPr>
            <a:spLocks noGrp="1"/>
          </p:cNvSpPr>
          <p:nvPr>
            <p:ph type="title"/>
          </p:nvPr>
        </p:nvSpPr>
        <p:spPr/>
        <p:txBody>
          <a:bodyPr/>
          <a:lstStyle/>
          <a:p>
            <a:r>
              <a:rPr lang="en-US" u="sng" dirty="0"/>
              <a:t>Component 2</a:t>
            </a:r>
            <a:r>
              <a:rPr lang="en-US" dirty="0"/>
              <a:t> Wordlist Window</a:t>
            </a:r>
            <a:endParaRPr lang="en-US" u="sng" dirty="0"/>
          </a:p>
        </p:txBody>
      </p:sp>
      <p:sp>
        <p:nvSpPr>
          <p:cNvPr id="5" name="Content Placeholder 4">
            <a:extLst>
              <a:ext uri="{FF2B5EF4-FFF2-40B4-BE49-F238E27FC236}">
                <a16:creationId xmlns:a16="http://schemas.microsoft.com/office/drawing/2014/main" id="{A415E3AB-B1FA-4264-8501-BAAFF7251545}"/>
              </a:ext>
            </a:extLst>
          </p:cNvPr>
          <p:cNvSpPr>
            <a:spLocks noGrp="1"/>
          </p:cNvSpPr>
          <p:nvPr>
            <p:ph idx="1"/>
          </p:nvPr>
        </p:nvSpPr>
        <p:spPr/>
        <p:txBody>
          <a:bodyPr/>
          <a:lstStyle/>
          <a:p>
            <a:pPr marL="0" indent="0">
              <a:buNone/>
            </a:pPr>
            <a:r>
              <a:rPr lang="en-US" dirty="0"/>
              <a:t>This window will control which words the game uses for Hangman, it will create buttons for each text file in the same folder as the program, this way the user can add their own lists apart from the 2 included.</a:t>
            </a:r>
          </a:p>
          <a:p>
            <a:pPr marL="0" indent="0">
              <a:buNone/>
            </a:pPr>
            <a:r>
              <a:rPr lang="en-US" dirty="0"/>
              <a:t>The way this will work is it will scan the first lane of the text file to use as the name of the wordlist, if the first line of 2 files are the same the game will read them with the same name.</a:t>
            </a:r>
          </a:p>
        </p:txBody>
      </p:sp>
      <p:graphicFrame>
        <p:nvGraphicFramePr>
          <p:cNvPr id="2" name="Table 3">
            <a:extLst>
              <a:ext uri="{FF2B5EF4-FFF2-40B4-BE49-F238E27FC236}">
                <a16:creationId xmlns:a16="http://schemas.microsoft.com/office/drawing/2014/main" id="{411C1FF9-3D78-4330-8A6F-DE31154FB1A1}"/>
              </a:ext>
            </a:extLst>
          </p:cNvPr>
          <p:cNvGraphicFramePr>
            <a:graphicFrameLocks noGrp="1"/>
          </p:cNvGraphicFramePr>
          <p:nvPr>
            <p:extLst>
              <p:ext uri="{D42A27DB-BD31-4B8C-83A1-F6EECF244321}">
                <p14:modId xmlns:p14="http://schemas.microsoft.com/office/powerpoint/2010/main" val="394058751"/>
              </p:ext>
            </p:extLst>
          </p:nvPr>
        </p:nvGraphicFramePr>
        <p:xfrm>
          <a:off x="838200" y="4708843"/>
          <a:ext cx="8218805" cy="1468120"/>
        </p:xfrm>
        <a:graphic>
          <a:graphicData uri="http://schemas.openxmlformats.org/drawingml/2006/table">
            <a:tbl>
              <a:tblPr firstRow="1" bandRow="1">
                <a:tableStyleId>{5C22544A-7EE6-4342-B048-85BDC9FD1C3A}</a:tableStyleId>
              </a:tblPr>
              <a:tblGrid>
                <a:gridCol w="4154805">
                  <a:extLst>
                    <a:ext uri="{9D8B030D-6E8A-4147-A177-3AD203B41FA5}">
                      <a16:colId xmlns:a16="http://schemas.microsoft.com/office/drawing/2014/main" val="3571326191"/>
                    </a:ext>
                  </a:extLst>
                </a:gridCol>
                <a:gridCol w="2032000">
                  <a:extLst>
                    <a:ext uri="{9D8B030D-6E8A-4147-A177-3AD203B41FA5}">
                      <a16:colId xmlns:a16="http://schemas.microsoft.com/office/drawing/2014/main" val="2907036451"/>
                    </a:ext>
                  </a:extLst>
                </a:gridCol>
                <a:gridCol w="2032000">
                  <a:extLst>
                    <a:ext uri="{9D8B030D-6E8A-4147-A177-3AD203B41FA5}">
                      <a16:colId xmlns:a16="http://schemas.microsoft.com/office/drawing/2014/main" val="1462466545"/>
                    </a:ext>
                  </a:extLst>
                </a:gridCol>
              </a:tblGrid>
              <a:tr h="370840">
                <a:tc>
                  <a:txBody>
                    <a:bodyPr/>
                    <a:lstStyle/>
                    <a:p>
                      <a:r>
                        <a:rPr lang="en-US" dirty="0"/>
                        <a:t>Test Case</a:t>
                      </a:r>
                      <a:endParaRPr lang="en-NZ" dirty="0"/>
                    </a:p>
                  </a:txBody>
                  <a:tcPr/>
                </a:tc>
                <a:tc>
                  <a:txBody>
                    <a:bodyPr/>
                    <a:lstStyle/>
                    <a:p>
                      <a:r>
                        <a:rPr lang="en-US" dirty="0"/>
                        <a:t>Intended Effect</a:t>
                      </a:r>
                      <a:endParaRPr lang="en-NZ" dirty="0"/>
                    </a:p>
                  </a:txBody>
                  <a:tcPr/>
                </a:tc>
                <a:tc>
                  <a:txBody>
                    <a:bodyPr/>
                    <a:lstStyle/>
                    <a:p>
                      <a:r>
                        <a:rPr lang="en-US" dirty="0"/>
                        <a:t>Actual Effect</a:t>
                      </a:r>
                      <a:endParaRPr lang="en-NZ" dirty="0"/>
                    </a:p>
                  </a:txBody>
                  <a:tcPr/>
                </a:tc>
                <a:extLst>
                  <a:ext uri="{0D108BD9-81ED-4DB2-BD59-A6C34878D82A}">
                    <a16:rowId xmlns:a16="http://schemas.microsoft.com/office/drawing/2014/main" val="672600813"/>
                  </a:ext>
                </a:extLst>
              </a:tr>
              <a:tr h="349738">
                <a:tc>
                  <a:txBody>
                    <a:bodyPr/>
                    <a:lstStyle/>
                    <a:p>
                      <a:r>
                        <a:rPr lang="en-US" sz="1000" dirty="0"/>
                        <a:t>No Wordlist has been selected so far and the user selects the ‘Countries’ list.</a:t>
                      </a:r>
                      <a:endParaRPr lang="en-NZ" sz="1000" dirty="0"/>
                    </a:p>
                  </a:txBody>
                  <a:tcPr/>
                </a:tc>
                <a:tc>
                  <a:txBody>
                    <a:bodyPr/>
                    <a:lstStyle/>
                    <a:p>
                      <a:r>
                        <a:rPr lang="en-US" sz="1000" dirty="0"/>
                        <a:t>The menu displays the selected wordlist as ‘Countries’ </a:t>
                      </a:r>
                      <a:endParaRPr lang="en-NZ" sz="1000" dirty="0"/>
                    </a:p>
                  </a:txBody>
                  <a:tcPr/>
                </a:tc>
                <a:tc>
                  <a:txBody>
                    <a:bodyPr/>
                    <a:lstStyle/>
                    <a:p>
                      <a:r>
                        <a:rPr lang="en-US" sz="1000" dirty="0"/>
                        <a:t>The menu displays the selected wordlist as ‘Countries’ </a:t>
                      </a:r>
                      <a:endParaRPr lang="en-NZ" sz="1000" dirty="0"/>
                    </a:p>
                    <a:p>
                      <a:endParaRPr lang="en-NZ" sz="1000" dirty="0"/>
                    </a:p>
                  </a:txBody>
                  <a:tcPr/>
                </a:tc>
                <a:extLst>
                  <a:ext uri="{0D108BD9-81ED-4DB2-BD59-A6C34878D82A}">
                    <a16:rowId xmlns:a16="http://schemas.microsoft.com/office/drawing/2014/main" val="4147030442"/>
                  </a:ext>
                </a:extLst>
              </a:tr>
              <a:tr h="370840">
                <a:tc>
                  <a:txBody>
                    <a:bodyPr/>
                    <a:lstStyle/>
                    <a:p>
                      <a:r>
                        <a:rPr lang="en-US" sz="1000" dirty="0"/>
                        <a:t>The user has added a custom list to the program folder with the first line of the list being ‘Brand Names’</a:t>
                      </a:r>
                      <a:endParaRPr lang="en-NZ" sz="1000" dirty="0"/>
                    </a:p>
                  </a:txBody>
                  <a:tcPr/>
                </a:tc>
                <a:tc>
                  <a:txBody>
                    <a:bodyPr/>
                    <a:lstStyle/>
                    <a:p>
                      <a:r>
                        <a:rPr lang="en-US" sz="1000" dirty="0"/>
                        <a:t>A ‘Brand Names’ Button is created by the program next time the window is opened.</a:t>
                      </a:r>
                      <a:endParaRPr lang="en-NZ" sz="1000" dirty="0"/>
                    </a:p>
                  </a:txBody>
                  <a:tcPr/>
                </a:tc>
                <a:tc>
                  <a:txBody>
                    <a:bodyPr/>
                    <a:lstStyle/>
                    <a:p>
                      <a:r>
                        <a:rPr lang="en-US" sz="1000" dirty="0"/>
                        <a:t>A ‘Brand Names’ Button is created by the program next time the window is opened.</a:t>
                      </a:r>
                      <a:endParaRPr lang="en-NZ" sz="1000" dirty="0"/>
                    </a:p>
                  </a:txBody>
                  <a:tcPr/>
                </a:tc>
                <a:extLst>
                  <a:ext uri="{0D108BD9-81ED-4DB2-BD59-A6C34878D82A}">
                    <a16:rowId xmlns:a16="http://schemas.microsoft.com/office/drawing/2014/main" val="2509475537"/>
                  </a:ext>
                </a:extLst>
              </a:tr>
            </a:tbl>
          </a:graphicData>
        </a:graphic>
      </p:graphicFrame>
    </p:spTree>
    <p:extLst>
      <p:ext uri="{BB962C8B-B14F-4D97-AF65-F5344CB8AC3E}">
        <p14:creationId xmlns:p14="http://schemas.microsoft.com/office/powerpoint/2010/main" val="2536290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B7D2C-1974-4576-B635-7462EFA5CAAD}"/>
              </a:ext>
            </a:extLst>
          </p:cNvPr>
          <p:cNvSpPr>
            <a:spLocks noGrp="1"/>
          </p:cNvSpPr>
          <p:nvPr>
            <p:ph type="title"/>
          </p:nvPr>
        </p:nvSpPr>
        <p:spPr/>
        <p:txBody>
          <a:bodyPr/>
          <a:lstStyle/>
          <a:p>
            <a:r>
              <a:rPr lang="en-US" u="sng" dirty="0"/>
              <a:t>Component 3 </a:t>
            </a:r>
            <a:r>
              <a:rPr lang="en-US" dirty="0"/>
              <a:t>Game Window</a:t>
            </a:r>
          </a:p>
        </p:txBody>
      </p:sp>
      <p:sp>
        <p:nvSpPr>
          <p:cNvPr id="3" name="Content Placeholder 2">
            <a:extLst>
              <a:ext uri="{FF2B5EF4-FFF2-40B4-BE49-F238E27FC236}">
                <a16:creationId xmlns:a16="http://schemas.microsoft.com/office/drawing/2014/main" id="{BEB3C980-131D-43D6-92B3-6EC76322FFE0}"/>
              </a:ext>
            </a:extLst>
          </p:cNvPr>
          <p:cNvSpPr>
            <a:spLocks noGrp="1"/>
          </p:cNvSpPr>
          <p:nvPr>
            <p:ph idx="1"/>
          </p:nvPr>
        </p:nvSpPr>
        <p:spPr/>
        <p:txBody>
          <a:bodyPr/>
          <a:lstStyle/>
          <a:p>
            <a:pPr marL="0" indent="0">
              <a:buNone/>
            </a:pPr>
            <a:r>
              <a:rPr lang="en-US" dirty="0"/>
              <a:t>This window will be where the game is played, it will have an image that updates each time the player guesses wrong. There will be a button for each letter of the alphabet and you will press those buttons to guess, once a button is pressed then the button will be disabled and the letter will be added to the guessed letters area, if the letter was in the word than it will be reflected on the display. A timer will be measuring how long the player takes to either win or lose. </a:t>
            </a:r>
          </a:p>
        </p:txBody>
      </p:sp>
    </p:spTree>
    <p:extLst>
      <p:ext uri="{BB962C8B-B14F-4D97-AF65-F5344CB8AC3E}">
        <p14:creationId xmlns:p14="http://schemas.microsoft.com/office/powerpoint/2010/main" val="3528996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B931-8C9C-4F4F-AB58-AB57DDCE554B}"/>
              </a:ext>
            </a:extLst>
          </p:cNvPr>
          <p:cNvSpPr>
            <a:spLocks noGrp="1"/>
          </p:cNvSpPr>
          <p:nvPr>
            <p:ph type="title"/>
          </p:nvPr>
        </p:nvSpPr>
        <p:spPr/>
        <p:txBody>
          <a:bodyPr/>
          <a:lstStyle/>
          <a:p>
            <a:r>
              <a:rPr lang="en-US" dirty="0"/>
              <a:t>Game Window Testing</a:t>
            </a:r>
          </a:p>
        </p:txBody>
      </p:sp>
      <p:graphicFrame>
        <p:nvGraphicFramePr>
          <p:cNvPr id="6" name="Content Placeholder 5">
            <a:extLst>
              <a:ext uri="{FF2B5EF4-FFF2-40B4-BE49-F238E27FC236}">
                <a16:creationId xmlns:a16="http://schemas.microsoft.com/office/drawing/2014/main" id="{6225E4A3-6C58-4435-910D-34B97A3CC222}"/>
              </a:ext>
            </a:extLst>
          </p:cNvPr>
          <p:cNvGraphicFramePr>
            <a:graphicFrameLocks noGrp="1"/>
          </p:cNvGraphicFramePr>
          <p:nvPr>
            <p:ph idx="1"/>
            <p:extLst>
              <p:ext uri="{D42A27DB-BD31-4B8C-83A1-F6EECF244321}">
                <p14:modId xmlns:p14="http://schemas.microsoft.com/office/powerpoint/2010/main" val="2311416805"/>
              </p:ext>
            </p:extLst>
          </p:nvPr>
        </p:nvGraphicFramePr>
        <p:xfrm>
          <a:off x="838200" y="1825625"/>
          <a:ext cx="6096000" cy="3266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51882492"/>
                    </a:ext>
                  </a:extLst>
                </a:gridCol>
                <a:gridCol w="2032000">
                  <a:extLst>
                    <a:ext uri="{9D8B030D-6E8A-4147-A177-3AD203B41FA5}">
                      <a16:colId xmlns:a16="http://schemas.microsoft.com/office/drawing/2014/main" val="1884608999"/>
                    </a:ext>
                  </a:extLst>
                </a:gridCol>
                <a:gridCol w="2032000">
                  <a:extLst>
                    <a:ext uri="{9D8B030D-6E8A-4147-A177-3AD203B41FA5}">
                      <a16:colId xmlns:a16="http://schemas.microsoft.com/office/drawing/2014/main" val="711328296"/>
                    </a:ext>
                  </a:extLst>
                </a:gridCol>
              </a:tblGrid>
              <a:tr h="370840">
                <a:tc>
                  <a:txBody>
                    <a:bodyPr/>
                    <a:lstStyle/>
                    <a:p>
                      <a:r>
                        <a:rPr lang="en-US" dirty="0"/>
                        <a:t>Test Case</a:t>
                      </a:r>
                      <a:endParaRPr lang="en-NZ" dirty="0"/>
                    </a:p>
                  </a:txBody>
                  <a:tcPr/>
                </a:tc>
                <a:tc>
                  <a:txBody>
                    <a:bodyPr/>
                    <a:lstStyle/>
                    <a:p>
                      <a:r>
                        <a:rPr lang="en-US" dirty="0"/>
                        <a:t>Intended Effect</a:t>
                      </a:r>
                      <a:endParaRPr lang="en-NZ" dirty="0"/>
                    </a:p>
                  </a:txBody>
                  <a:tcPr/>
                </a:tc>
                <a:tc>
                  <a:txBody>
                    <a:bodyPr/>
                    <a:lstStyle/>
                    <a:p>
                      <a:r>
                        <a:rPr lang="en-US" dirty="0"/>
                        <a:t>Actual Effect</a:t>
                      </a:r>
                      <a:endParaRPr lang="en-NZ" dirty="0"/>
                    </a:p>
                  </a:txBody>
                  <a:tcPr/>
                </a:tc>
                <a:extLst>
                  <a:ext uri="{0D108BD9-81ED-4DB2-BD59-A6C34878D82A}">
                    <a16:rowId xmlns:a16="http://schemas.microsoft.com/office/drawing/2014/main" val="919829437"/>
                  </a:ext>
                </a:extLst>
              </a:tr>
              <a:tr h="349738">
                <a:tc>
                  <a:txBody>
                    <a:bodyPr/>
                    <a:lstStyle/>
                    <a:p>
                      <a:r>
                        <a:rPr lang="en-US" sz="1000" dirty="0"/>
                        <a:t>Buttons corresponding to each letter are pressed.</a:t>
                      </a:r>
                      <a:endParaRPr lang="en-NZ" sz="1000" dirty="0"/>
                    </a:p>
                  </a:txBody>
                  <a:tcPr/>
                </a:tc>
                <a:tc>
                  <a:txBody>
                    <a:bodyPr/>
                    <a:lstStyle/>
                    <a:p>
                      <a:r>
                        <a:rPr lang="en-US" sz="1000" dirty="0"/>
                        <a:t>The letter from the button either updates the word if it was in the word or it goes to the guessed letters area. The button disables itself.</a:t>
                      </a:r>
                      <a:endParaRPr lang="en-NZ" sz="1000" dirty="0"/>
                    </a:p>
                  </a:txBody>
                  <a:tcPr/>
                </a:tc>
                <a:tc>
                  <a:txBody>
                    <a:bodyPr/>
                    <a:lstStyle/>
                    <a:p>
                      <a:r>
                        <a:rPr lang="en-US" sz="1000" dirty="0"/>
                        <a:t>The letter from the button either updates the word if it was in the word or it goes to the guessed letters area. The button disables itself.</a:t>
                      </a:r>
                      <a:endParaRPr lang="en-NZ" sz="1000" dirty="0"/>
                    </a:p>
                    <a:p>
                      <a:endParaRPr lang="en-NZ" sz="1000" dirty="0"/>
                    </a:p>
                  </a:txBody>
                  <a:tcPr/>
                </a:tc>
                <a:extLst>
                  <a:ext uri="{0D108BD9-81ED-4DB2-BD59-A6C34878D82A}">
                    <a16:rowId xmlns:a16="http://schemas.microsoft.com/office/drawing/2014/main" val="2089362710"/>
                  </a:ext>
                </a:extLst>
              </a:tr>
              <a:tr h="370840">
                <a:tc>
                  <a:txBody>
                    <a:bodyPr/>
                    <a:lstStyle/>
                    <a:p>
                      <a:r>
                        <a:rPr lang="en-US" sz="1000" dirty="0"/>
                        <a:t>The word is correctly guessed</a:t>
                      </a:r>
                      <a:endParaRPr lang="en-NZ" sz="1000" dirty="0"/>
                    </a:p>
                  </a:txBody>
                  <a:tcPr/>
                </a:tc>
                <a:tc>
                  <a:txBody>
                    <a:bodyPr/>
                    <a:lstStyle/>
                    <a:p>
                      <a:r>
                        <a:rPr lang="en-US" sz="1000" dirty="0"/>
                        <a:t>The display says that the player has won and the timer pauses</a:t>
                      </a:r>
                      <a:endParaRPr lang="en-NZ" sz="1000" dirty="0"/>
                    </a:p>
                  </a:txBody>
                  <a:tcPr/>
                </a:tc>
                <a:tc>
                  <a:txBody>
                    <a:bodyPr/>
                    <a:lstStyle/>
                    <a:p>
                      <a:r>
                        <a:rPr lang="en-US" sz="1000" dirty="0"/>
                        <a:t>The display says that the player has won and the timer pauses</a:t>
                      </a:r>
                      <a:endParaRPr lang="en-NZ" sz="1000" dirty="0"/>
                    </a:p>
                  </a:txBody>
                  <a:tcPr/>
                </a:tc>
                <a:extLst>
                  <a:ext uri="{0D108BD9-81ED-4DB2-BD59-A6C34878D82A}">
                    <a16:rowId xmlns:a16="http://schemas.microsoft.com/office/drawing/2014/main" val="1345965699"/>
                  </a:ext>
                </a:extLst>
              </a:tr>
              <a:tr h="370840">
                <a:tc>
                  <a:txBody>
                    <a:bodyPr/>
                    <a:lstStyle/>
                    <a:p>
                      <a:r>
                        <a:rPr lang="en-US" sz="1000" dirty="0"/>
                        <a:t>The player runs out of guesses</a:t>
                      </a:r>
                      <a:endParaRPr lang="en-NZ" sz="1000" dirty="0"/>
                    </a:p>
                  </a:txBody>
                  <a:tcPr/>
                </a:tc>
                <a:tc>
                  <a:txBody>
                    <a:bodyPr/>
                    <a:lstStyle/>
                    <a:p>
                      <a:r>
                        <a:rPr lang="en-US" sz="1000" dirty="0"/>
                        <a:t>The display says the player has lost and the timer pauses</a:t>
                      </a:r>
                      <a:endParaRPr lang="en-NZ" sz="1000" dirty="0"/>
                    </a:p>
                  </a:txBody>
                  <a:tcPr/>
                </a:tc>
                <a:tc>
                  <a:txBody>
                    <a:bodyPr/>
                    <a:lstStyle/>
                    <a:p>
                      <a:r>
                        <a:rPr lang="en-US" sz="1000" dirty="0"/>
                        <a:t>The display says the player has lost and the timer pauses</a:t>
                      </a:r>
                      <a:endParaRPr lang="en-NZ" sz="1000" dirty="0"/>
                    </a:p>
                  </a:txBody>
                  <a:tcPr/>
                </a:tc>
                <a:extLst>
                  <a:ext uri="{0D108BD9-81ED-4DB2-BD59-A6C34878D82A}">
                    <a16:rowId xmlns:a16="http://schemas.microsoft.com/office/drawing/2014/main" val="1779965573"/>
                  </a:ext>
                </a:extLst>
              </a:tr>
              <a:tr h="370840">
                <a:tc>
                  <a:txBody>
                    <a:bodyPr/>
                    <a:lstStyle/>
                    <a:p>
                      <a:r>
                        <a:rPr lang="en-US" sz="1000" dirty="0"/>
                        <a:t>The player incorrectly guesses a letter</a:t>
                      </a:r>
                      <a:endParaRPr lang="en-NZ" sz="1000" dirty="0"/>
                    </a:p>
                  </a:txBody>
                  <a:tcPr/>
                </a:tc>
                <a:tc>
                  <a:txBody>
                    <a:bodyPr/>
                    <a:lstStyle/>
                    <a:p>
                      <a:r>
                        <a:rPr lang="en-US" sz="1000" dirty="0"/>
                        <a:t>The image updates to a further stage of hangman and the button is greyed out.</a:t>
                      </a:r>
                      <a:endParaRPr lang="en-NZ" sz="1000" dirty="0"/>
                    </a:p>
                  </a:txBody>
                  <a:tcPr/>
                </a:tc>
                <a:tc>
                  <a:txBody>
                    <a:bodyPr/>
                    <a:lstStyle/>
                    <a:p>
                      <a:r>
                        <a:rPr lang="en-US" sz="1000" dirty="0"/>
                        <a:t>The image updates to a further stage of hangman and the button is greyed out.</a:t>
                      </a:r>
                      <a:endParaRPr lang="en-NZ" sz="1000" dirty="0"/>
                    </a:p>
                    <a:p>
                      <a:endParaRPr lang="en-NZ" sz="1000" dirty="0"/>
                    </a:p>
                  </a:txBody>
                  <a:tcPr/>
                </a:tc>
                <a:extLst>
                  <a:ext uri="{0D108BD9-81ED-4DB2-BD59-A6C34878D82A}">
                    <a16:rowId xmlns:a16="http://schemas.microsoft.com/office/drawing/2014/main" val="2343744297"/>
                  </a:ext>
                </a:extLst>
              </a:tr>
              <a:tr h="370840">
                <a:tc>
                  <a:txBody>
                    <a:bodyPr/>
                    <a:lstStyle/>
                    <a:p>
                      <a:r>
                        <a:rPr lang="en-US" sz="1000" dirty="0"/>
                        <a:t>The player  correctly guesses a letter</a:t>
                      </a:r>
                      <a:endParaRPr lang="en-NZ" sz="1000" dirty="0"/>
                    </a:p>
                  </a:txBody>
                  <a:tcPr/>
                </a:tc>
                <a:tc>
                  <a:txBody>
                    <a:bodyPr/>
                    <a:lstStyle/>
                    <a:p>
                      <a:r>
                        <a:rPr lang="en-US" sz="1000" dirty="0"/>
                        <a:t>The display updates and the button is disabled</a:t>
                      </a:r>
                      <a:endParaRPr lang="en-NZ" sz="1000" dirty="0"/>
                    </a:p>
                  </a:txBody>
                  <a:tcPr/>
                </a:tc>
                <a:tc>
                  <a:txBody>
                    <a:bodyPr/>
                    <a:lstStyle/>
                    <a:p>
                      <a:r>
                        <a:rPr lang="en-US" sz="1000" dirty="0"/>
                        <a:t>The display updates and the button is disabled</a:t>
                      </a:r>
                      <a:endParaRPr lang="en-NZ" sz="1000" dirty="0"/>
                    </a:p>
                  </a:txBody>
                  <a:tcPr/>
                </a:tc>
                <a:extLst>
                  <a:ext uri="{0D108BD9-81ED-4DB2-BD59-A6C34878D82A}">
                    <a16:rowId xmlns:a16="http://schemas.microsoft.com/office/drawing/2014/main" val="3977345513"/>
                  </a:ext>
                </a:extLst>
              </a:tr>
            </a:tbl>
          </a:graphicData>
        </a:graphic>
      </p:graphicFrame>
    </p:spTree>
    <p:extLst>
      <p:ext uri="{BB962C8B-B14F-4D97-AF65-F5344CB8AC3E}">
        <p14:creationId xmlns:p14="http://schemas.microsoft.com/office/powerpoint/2010/main" val="3210667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76E1-0107-4265-882A-9BC36B263CA1}"/>
              </a:ext>
            </a:extLst>
          </p:cNvPr>
          <p:cNvSpPr>
            <a:spLocks noGrp="1"/>
          </p:cNvSpPr>
          <p:nvPr>
            <p:ph type="title"/>
          </p:nvPr>
        </p:nvSpPr>
        <p:spPr/>
        <p:txBody>
          <a:bodyPr/>
          <a:lstStyle/>
          <a:p>
            <a:r>
              <a:rPr lang="en-US" u="sng" dirty="0"/>
              <a:t>Component 4</a:t>
            </a:r>
            <a:r>
              <a:rPr lang="en-US" dirty="0"/>
              <a:t> Game History</a:t>
            </a:r>
            <a:endParaRPr lang="en-US" u="sng" dirty="0"/>
          </a:p>
        </p:txBody>
      </p:sp>
      <p:sp>
        <p:nvSpPr>
          <p:cNvPr id="3" name="Content Placeholder 2">
            <a:extLst>
              <a:ext uri="{FF2B5EF4-FFF2-40B4-BE49-F238E27FC236}">
                <a16:creationId xmlns:a16="http://schemas.microsoft.com/office/drawing/2014/main" id="{4DE3D468-C141-4F29-8897-46CFA47DE95F}"/>
              </a:ext>
            </a:extLst>
          </p:cNvPr>
          <p:cNvSpPr>
            <a:spLocks noGrp="1"/>
          </p:cNvSpPr>
          <p:nvPr>
            <p:ph idx="1"/>
          </p:nvPr>
        </p:nvSpPr>
        <p:spPr/>
        <p:txBody>
          <a:bodyPr/>
          <a:lstStyle/>
          <a:p>
            <a:pPr marL="0" indent="0">
              <a:buNone/>
            </a:pPr>
            <a:r>
              <a:rPr lang="en-US" dirty="0"/>
              <a:t>At the end of the game the program will record various statistics for the game and store them in a list, the game history window will display the statistics of each game in that session and provide buttons to sort through the stats with. It will also provide an export button if the player wishes to export their stats to a csv file.</a:t>
            </a:r>
          </a:p>
        </p:txBody>
      </p:sp>
    </p:spTree>
    <p:extLst>
      <p:ext uri="{BB962C8B-B14F-4D97-AF65-F5344CB8AC3E}">
        <p14:creationId xmlns:p14="http://schemas.microsoft.com/office/powerpoint/2010/main" val="3018260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84426-EFFC-4497-8337-ACA40D1D0BB8}"/>
              </a:ext>
            </a:extLst>
          </p:cNvPr>
          <p:cNvSpPr>
            <a:spLocks noGrp="1"/>
          </p:cNvSpPr>
          <p:nvPr>
            <p:ph type="title"/>
          </p:nvPr>
        </p:nvSpPr>
        <p:spPr/>
        <p:txBody>
          <a:bodyPr/>
          <a:lstStyle/>
          <a:p>
            <a:r>
              <a:rPr lang="en-US" dirty="0"/>
              <a:t>Game History Testing</a:t>
            </a:r>
          </a:p>
        </p:txBody>
      </p:sp>
      <p:graphicFrame>
        <p:nvGraphicFramePr>
          <p:cNvPr id="4" name="Table 3">
            <a:extLst>
              <a:ext uri="{FF2B5EF4-FFF2-40B4-BE49-F238E27FC236}">
                <a16:creationId xmlns:a16="http://schemas.microsoft.com/office/drawing/2014/main" id="{BB94EE95-DA00-4B14-83F6-AEE77555999E}"/>
              </a:ext>
            </a:extLst>
          </p:cNvPr>
          <p:cNvGraphicFramePr>
            <a:graphicFrameLocks noGrp="1"/>
          </p:cNvGraphicFramePr>
          <p:nvPr>
            <p:extLst>
              <p:ext uri="{D42A27DB-BD31-4B8C-83A1-F6EECF244321}">
                <p14:modId xmlns:p14="http://schemas.microsoft.com/office/powerpoint/2010/main" val="2417506407"/>
              </p:ext>
            </p:extLst>
          </p:nvPr>
        </p:nvGraphicFramePr>
        <p:xfrm>
          <a:off x="838200" y="1825625"/>
          <a:ext cx="6096000" cy="23215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390602929"/>
                    </a:ext>
                  </a:extLst>
                </a:gridCol>
                <a:gridCol w="2032000">
                  <a:extLst>
                    <a:ext uri="{9D8B030D-6E8A-4147-A177-3AD203B41FA5}">
                      <a16:colId xmlns:a16="http://schemas.microsoft.com/office/drawing/2014/main" val="2645274918"/>
                    </a:ext>
                  </a:extLst>
                </a:gridCol>
                <a:gridCol w="2032000">
                  <a:extLst>
                    <a:ext uri="{9D8B030D-6E8A-4147-A177-3AD203B41FA5}">
                      <a16:colId xmlns:a16="http://schemas.microsoft.com/office/drawing/2014/main" val="3717069627"/>
                    </a:ext>
                  </a:extLst>
                </a:gridCol>
              </a:tblGrid>
              <a:tr h="370840">
                <a:tc>
                  <a:txBody>
                    <a:bodyPr/>
                    <a:lstStyle/>
                    <a:p>
                      <a:r>
                        <a:rPr lang="en-US" dirty="0"/>
                        <a:t>Test Case</a:t>
                      </a:r>
                      <a:endParaRPr lang="en-NZ" dirty="0"/>
                    </a:p>
                  </a:txBody>
                  <a:tcPr/>
                </a:tc>
                <a:tc>
                  <a:txBody>
                    <a:bodyPr/>
                    <a:lstStyle/>
                    <a:p>
                      <a:r>
                        <a:rPr lang="en-US" dirty="0"/>
                        <a:t>Intended Effect</a:t>
                      </a:r>
                      <a:endParaRPr lang="en-NZ" dirty="0"/>
                    </a:p>
                  </a:txBody>
                  <a:tcPr/>
                </a:tc>
                <a:tc>
                  <a:txBody>
                    <a:bodyPr/>
                    <a:lstStyle/>
                    <a:p>
                      <a:r>
                        <a:rPr lang="en-US" dirty="0"/>
                        <a:t>Actual Effect</a:t>
                      </a:r>
                      <a:endParaRPr lang="en-NZ" dirty="0"/>
                    </a:p>
                  </a:txBody>
                  <a:tcPr/>
                </a:tc>
                <a:extLst>
                  <a:ext uri="{0D108BD9-81ED-4DB2-BD59-A6C34878D82A}">
                    <a16:rowId xmlns:a16="http://schemas.microsoft.com/office/drawing/2014/main" val="409668352"/>
                  </a:ext>
                </a:extLst>
              </a:tr>
              <a:tr h="349738">
                <a:tc>
                  <a:txBody>
                    <a:bodyPr/>
                    <a:lstStyle/>
                    <a:p>
                      <a:r>
                        <a:rPr lang="en-US" sz="1000" dirty="0"/>
                        <a:t>The use can sort through the statistics by pressing each of the sorting buttons</a:t>
                      </a:r>
                      <a:endParaRPr lang="en-NZ" sz="1000" dirty="0"/>
                    </a:p>
                  </a:txBody>
                  <a:tcPr/>
                </a:tc>
                <a:tc>
                  <a:txBody>
                    <a:bodyPr/>
                    <a:lstStyle/>
                    <a:p>
                      <a:r>
                        <a:rPr lang="en-US" sz="1000" dirty="0"/>
                        <a:t>The list is sorted by the corresponding button that the user pressed</a:t>
                      </a:r>
                      <a:endParaRPr lang="en-NZ" sz="1000" dirty="0"/>
                    </a:p>
                  </a:txBody>
                  <a:tcPr/>
                </a:tc>
                <a:tc>
                  <a:txBody>
                    <a:bodyPr/>
                    <a:lstStyle/>
                    <a:p>
                      <a:r>
                        <a:rPr lang="en-US" sz="1000" dirty="0"/>
                        <a:t>The list is sorted by the corresponding button that the user pressed</a:t>
                      </a:r>
                      <a:endParaRPr lang="en-NZ" sz="1000" dirty="0"/>
                    </a:p>
                    <a:p>
                      <a:endParaRPr lang="en-NZ" sz="1000" dirty="0"/>
                    </a:p>
                  </a:txBody>
                  <a:tcPr/>
                </a:tc>
                <a:extLst>
                  <a:ext uri="{0D108BD9-81ED-4DB2-BD59-A6C34878D82A}">
                    <a16:rowId xmlns:a16="http://schemas.microsoft.com/office/drawing/2014/main" val="126812408"/>
                  </a:ext>
                </a:extLst>
              </a:tr>
              <a:tr h="370840">
                <a:tc>
                  <a:txBody>
                    <a:bodyPr/>
                    <a:lstStyle/>
                    <a:p>
                      <a:r>
                        <a:rPr lang="en-US" sz="1000" dirty="0"/>
                        <a:t>The user tries to open the game history window with no games played</a:t>
                      </a:r>
                      <a:endParaRPr lang="en-NZ" sz="1000" dirty="0"/>
                    </a:p>
                  </a:txBody>
                  <a:tcPr/>
                </a:tc>
                <a:tc>
                  <a:txBody>
                    <a:bodyPr/>
                    <a:lstStyle/>
                    <a:p>
                      <a:r>
                        <a:rPr lang="en-US" sz="1000" dirty="0"/>
                        <a:t>The window does not open and instead the main menu prompts the player to play a game before trying to access statistics</a:t>
                      </a:r>
                      <a:endParaRPr lang="en-NZ" sz="1000" dirty="0"/>
                    </a:p>
                  </a:txBody>
                  <a:tcPr/>
                </a:tc>
                <a:tc>
                  <a:txBody>
                    <a:bodyPr/>
                    <a:lstStyle/>
                    <a:p>
                      <a:r>
                        <a:rPr lang="en-US" sz="1000" dirty="0"/>
                        <a:t>The window does not open and instead the main menu prompts the player to play a game before trying to access statistics</a:t>
                      </a:r>
                      <a:endParaRPr lang="en-NZ" sz="1000" dirty="0"/>
                    </a:p>
                  </a:txBody>
                  <a:tcPr/>
                </a:tc>
                <a:extLst>
                  <a:ext uri="{0D108BD9-81ED-4DB2-BD59-A6C34878D82A}">
                    <a16:rowId xmlns:a16="http://schemas.microsoft.com/office/drawing/2014/main" val="2563937502"/>
                  </a:ext>
                </a:extLst>
              </a:tr>
              <a:tr h="370840">
                <a:tc>
                  <a:txBody>
                    <a:bodyPr/>
                    <a:lstStyle/>
                    <a:p>
                      <a:r>
                        <a:rPr lang="en-US" sz="1000" dirty="0"/>
                        <a:t>The export stats button is pressed</a:t>
                      </a:r>
                      <a:endParaRPr lang="en-NZ" sz="1000" dirty="0"/>
                    </a:p>
                  </a:txBody>
                  <a:tcPr/>
                </a:tc>
                <a:tc>
                  <a:txBody>
                    <a:bodyPr/>
                    <a:lstStyle/>
                    <a:p>
                      <a:r>
                        <a:rPr lang="en-US" sz="1000" dirty="0"/>
                        <a:t>The program exports all the stats from the session into a csv file with the correct format.</a:t>
                      </a:r>
                      <a:endParaRPr lang="en-NZ" sz="1000" dirty="0"/>
                    </a:p>
                  </a:txBody>
                  <a:tcPr/>
                </a:tc>
                <a:tc>
                  <a:txBody>
                    <a:bodyPr/>
                    <a:lstStyle/>
                    <a:p>
                      <a:r>
                        <a:rPr lang="en-US" sz="1000" dirty="0"/>
                        <a:t>The program exports all the stats from the session into a csv file with the correct format.</a:t>
                      </a:r>
                      <a:endParaRPr lang="en-NZ" sz="1000" dirty="0"/>
                    </a:p>
                  </a:txBody>
                  <a:tcPr/>
                </a:tc>
                <a:extLst>
                  <a:ext uri="{0D108BD9-81ED-4DB2-BD59-A6C34878D82A}">
                    <a16:rowId xmlns:a16="http://schemas.microsoft.com/office/drawing/2014/main" val="541102934"/>
                  </a:ext>
                </a:extLst>
              </a:tr>
            </a:tbl>
          </a:graphicData>
        </a:graphic>
      </p:graphicFrame>
    </p:spTree>
    <p:extLst>
      <p:ext uri="{BB962C8B-B14F-4D97-AF65-F5344CB8AC3E}">
        <p14:creationId xmlns:p14="http://schemas.microsoft.com/office/powerpoint/2010/main" val="228603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1761-A4F6-4850-AAAB-A8D860EAA8AF}"/>
              </a:ext>
            </a:extLst>
          </p:cNvPr>
          <p:cNvSpPr>
            <a:spLocks noGrp="1"/>
          </p:cNvSpPr>
          <p:nvPr>
            <p:ph type="title"/>
          </p:nvPr>
        </p:nvSpPr>
        <p:spPr/>
        <p:txBody>
          <a:bodyPr/>
          <a:lstStyle/>
          <a:p>
            <a:r>
              <a:rPr lang="en-US" dirty="0"/>
              <a:t>User Guide</a:t>
            </a:r>
            <a:endParaRPr lang="en-NZ" dirty="0"/>
          </a:p>
        </p:txBody>
      </p:sp>
      <p:sp>
        <p:nvSpPr>
          <p:cNvPr id="3" name="Content Placeholder 2">
            <a:extLst>
              <a:ext uri="{FF2B5EF4-FFF2-40B4-BE49-F238E27FC236}">
                <a16:creationId xmlns:a16="http://schemas.microsoft.com/office/drawing/2014/main" id="{59CFF425-E2B3-422E-B26F-92CC8DABB613}"/>
              </a:ext>
            </a:extLst>
          </p:cNvPr>
          <p:cNvSpPr>
            <a:spLocks noGrp="1"/>
          </p:cNvSpPr>
          <p:nvPr>
            <p:ph idx="1"/>
          </p:nvPr>
        </p:nvSpPr>
        <p:spPr/>
        <p:txBody>
          <a:bodyPr>
            <a:normAutofit/>
          </a:bodyPr>
          <a:lstStyle/>
          <a:p>
            <a:r>
              <a:rPr lang="en-US" sz="1400" dirty="0"/>
              <a:t>General</a:t>
            </a:r>
            <a:br>
              <a:rPr lang="en-US" sz="1400" dirty="0"/>
            </a:br>
            <a:r>
              <a:rPr lang="en-US" sz="1400" dirty="0"/>
              <a:t>To open the program open ‘Code.py’ in an IDE and run the code.</a:t>
            </a:r>
            <a:br>
              <a:rPr lang="en-US" sz="1400" dirty="0"/>
            </a:br>
            <a:r>
              <a:rPr lang="en-US" sz="1400" dirty="0"/>
              <a:t>Follow the instructions provided on the GUI</a:t>
            </a:r>
            <a:br>
              <a:rPr lang="en-US" sz="1400" dirty="0"/>
            </a:br>
            <a:r>
              <a:rPr lang="en-US" sz="1400" dirty="0"/>
              <a:t>Despite the use of ‘wordlists’ the game will run fine with phrases containing spaces up to a character limit of 30, such as; ‘Hello There’</a:t>
            </a:r>
          </a:p>
          <a:p>
            <a:r>
              <a:rPr lang="en-US" sz="1400" dirty="0"/>
              <a:t>Adding Words / Phrases</a:t>
            </a:r>
            <a:br>
              <a:rPr lang="en-US" sz="1400" dirty="0"/>
            </a:br>
            <a:r>
              <a:rPr lang="en-US" sz="1400" dirty="0"/>
              <a:t>To add a custom list of words/phrases for the game to use place a text (must be .txt) file of any name in the same folder as ‘Code.py’ have the first line as the name of list, </a:t>
            </a:r>
            <a:r>
              <a:rPr lang="en-US" sz="1400" dirty="0" err="1"/>
              <a:t>e.g</a:t>
            </a:r>
            <a:r>
              <a:rPr lang="en-US" sz="1400" dirty="0"/>
              <a:t>: Famous People. On the following lines the file can have as many entries as you would like, anything on a line will be read by the program as a phrase and can be randomly selected for the game. Two files of the same name with different first lines will be read as two different files.</a:t>
            </a:r>
          </a:p>
          <a:p>
            <a:r>
              <a:rPr lang="en-US" sz="1400" dirty="0"/>
              <a:t>Exporting Stats</a:t>
            </a:r>
            <a:br>
              <a:rPr lang="en-US" sz="1400" dirty="0"/>
            </a:br>
            <a:r>
              <a:rPr lang="en-US" sz="1400" dirty="0"/>
              <a:t>Exporting your game statistics will only export the statistics of the session as ‘Gamestats.csv’ to the same folder as ‘Code.py’. It will overwrite the previous file, or any file named ‘Gamestats.csv’.</a:t>
            </a:r>
          </a:p>
          <a:p>
            <a:r>
              <a:rPr lang="en-US" sz="1400" dirty="0"/>
              <a:t>Testing</a:t>
            </a:r>
            <a:br>
              <a:rPr lang="en-US" sz="1400" dirty="0"/>
            </a:br>
            <a:r>
              <a:rPr lang="en-US" sz="1400" dirty="0"/>
              <a:t>For testing purposes a custom word can be entered using the ‘Custom Word’ button on the main menu, there is a character limit of 30 and only alphabetic characters and spaces can be used.</a:t>
            </a:r>
          </a:p>
        </p:txBody>
      </p:sp>
    </p:spTree>
    <p:extLst>
      <p:ext uri="{BB962C8B-B14F-4D97-AF65-F5344CB8AC3E}">
        <p14:creationId xmlns:p14="http://schemas.microsoft.com/office/powerpoint/2010/main" val="1925372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669</TotalTime>
  <Words>3732</Words>
  <Application>Microsoft Office PowerPoint</Application>
  <PresentationFormat>Widescreen</PresentationFormat>
  <Paragraphs>337</Paragraphs>
  <Slides>33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Symbol</vt:lpstr>
      <vt:lpstr>Office Theme</vt:lpstr>
      <vt:lpstr>Develop a Proposal</vt:lpstr>
      <vt:lpstr>Proposals</vt:lpstr>
      <vt:lpstr>Proposals Cont.</vt:lpstr>
      <vt:lpstr>Addressing Relevant Implications </vt:lpstr>
      <vt:lpstr>Addressing Relevant Implications </vt:lpstr>
      <vt:lpstr>Addressing Relevant Implications </vt:lpstr>
      <vt:lpstr>Addressing Relevant Implications </vt:lpstr>
      <vt:lpstr>End User Considerations</vt:lpstr>
      <vt:lpstr>Brief / Introduction</vt:lpstr>
      <vt:lpstr>Specifications and Constraints </vt:lpstr>
      <vt:lpstr>Resources used.</vt:lpstr>
      <vt:lpstr>Timeline (Gannt Chart)</vt:lpstr>
      <vt:lpstr>Version Control</vt:lpstr>
      <vt:lpstr>Classes</vt:lpstr>
      <vt:lpstr>Functions and Variables</vt:lpstr>
      <vt:lpstr>PowerPoint Presentation</vt:lpstr>
      <vt:lpstr>PowerPoint Presentation</vt:lpstr>
      <vt:lpstr>Graphical User Interface Design (GUI) </vt:lpstr>
      <vt:lpstr>GUI (Continued)</vt:lpstr>
      <vt:lpstr>Research</vt:lpstr>
      <vt:lpstr>Program Structure</vt:lpstr>
      <vt:lpstr>Program Decomposition</vt:lpstr>
      <vt:lpstr>Component Development</vt:lpstr>
      <vt:lpstr>Component 1 Main menu</vt:lpstr>
      <vt:lpstr>Main Menu Trialing – Clickable Buttons </vt:lpstr>
      <vt:lpstr>Main Menu Trialing – Radio Buttons </vt:lpstr>
      <vt:lpstr>Component 1 Main menu testing</vt:lpstr>
      <vt:lpstr>Component 2 Wordlist Window</vt:lpstr>
      <vt:lpstr>Component 3 Game Window</vt:lpstr>
      <vt:lpstr>Game Window Testing</vt:lpstr>
      <vt:lpstr>Component 4 Game History</vt:lpstr>
      <vt:lpstr>Game History Testing</vt:lpstr>
      <vt:lpstr>User Guide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 Tools</dc:title>
  <dc:creator>Jack briggs</dc:creator>
  <cp:lastModifiedBy>Jack Briggs</cp:lastModifiedBy>
  <cp:revision>46</cp:revision>
  <dcterms:created xsi:type="dcterms:W3CDTF">2020-06-19T00:52:19Z</dcterms:created>
  <dcterms:modified xsi:type="dcterms:W3CDTF">2020-10-12T10:27:19Z</dcterms:modified>
</cp:coreProperties>
</file>